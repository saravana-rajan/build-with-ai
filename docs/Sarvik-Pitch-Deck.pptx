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57200"/>
            <a:ext cx="82296" cy="365760"/>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75488"/>
            <a:ext cx="8229600" cy="320040"/>
          </a:xfrm>
          <a:prstGeom prst="rect">
            <a:avLst/>
          </a:prstGeom>
          <a:noFill/>
        </p:spPr>
        <p:txBody>
          <a:bodyPr wrap="square" anchor="ctr" lIns="25400" rIns="25400" tIns="12700" bIns="12700">
            <a:spAutoFit/>
          </a:bodyPr>
          <a:lstStyle/>
          <a:p>
            <a:pPr algn="l">
              <a:spcBef>
                <a:spcPts val="0"/>
              </a:spcBef>
              <a:spcAft>
                <a:spcPts val="200"/>
              </a:spcAft>
            </a:pPr>
            <a:r>
              <a:rPr sz="1200" b="1">
                <a:solidFill>
                  <a:srgbClr val="B8C6D4"/>
                </a:solidFill>
                <a:latin typeface="Segoe UI"/>
              </a:rPr>
              <a:t>GOOGLE CLOUD  ·  BUILD WITH AI: CODE FOR COMMUNITIES</a:t>
            </a:r>
          </a:p>
        </p:txBody>
      </p:sp>
      <p:sp>
        <p:nvSpPr>
          <p:cNvPr id="5" name="TextBox 4"/>
          <p:cNvSpPr txBox="1"/>
          <p:nvPr/>
        </p:nvSpPr>
        <p:spPr>
          <a:xfrm>
            <a:off x="7589520" y="475488"/>
            <a:ext cx="4050791" cy="320040"/>
          </a:xfrm>
          <a:prstGeom prst="rect">
            <a:avLst/>
          </a:prstGeom>
          <a:noFill/>
        </p:spPr>
        <p:txBody>
          <a:bodyPr wrap="square" anchor="ctr" lIns="25400" rIns="25400" tIns="12700" bIns="12700">
            <a:spAutoFit/>
          </a:bodyPr>
          <a:lstStyle/>
          <a:p>
            <a:pPr algn="r">
              <a:spcBef>
                <a:spcPts val="0"/>
              </a:spcBef>
              <a:spcAft>
                <a:spcPts val="200"/>
              </a:spcAft>
            </a:pPr>
            <a:r>
              <a:rPr sz="1200" b="1">
                <a:solidFill>
                  <a:srgbClr val="0F8A72"/>
                </a:solidFill>
                <a:latin typeface="Segoe UI"/>
              </a:rPr>
              <a:t>TRACK 1 SUBMISSION</a:t>
            </a:r>
          </a:p>
        </p:txBody>
      </p:sp>
      <p:sp>
        <p:nvSpPr>
          <p:cNvPr id="6" name="TextBox 5"/>
          <p:cNvSpPr txBox="1"/>
          <p:nvPr/>
        </p:nvSpPr>
        <p:spPr>
          <a:xfrm>
            <a:off x="8412480" y="4206240"/>
            <a:ext cx="3657600" cy="1463040"/>
          </a:xfrm>
          <a:prstGeom prst="rect">
            <a:avLst/>
          </a:prstGeom>
          <a:noFill/>
        </p:spPr>
        <p:txBody>
          <a:bodyPr wrap="square" anchor="t" lIns="25400" rIns="25400" tIns="12700" bIns="12700">
            <a:spAutoFit/>
          </a:bodyPr>
          <a:lstStyle/>
          <a:p>
            <a:pPr algn="r">
              <a:spcBef>
                <a:spcPts val="0"/>
              </a:spcBef>
              <a:spcAft>
                <a:spcPts val="200"/>
              </a:spcAft>
            </a:pPr>
            <a:r>
              <a:rPr sz="7000" b="1">
                <a:solidFill>
                  <a:srgbClr val="163352"/>
                </a:solidFill>
                <a:latin typeface="Segoe UI"/>
              </a:rPr>
              <a:t>₹463 crore</a:t>
            </a:r>
          </a:p>
        </p:txBody>
      </p:sp>
      <p:sp>
        <p:nvSpPr>
          <p:cNvPr id="7" name="TextBox 6"/>
          <p:cNvSpPr txBox="1"/>
          <p:nvPr/>
        </p:nvSpPr>
        <p:spPr>
          <a:xfrm>
            <a:off x="502920" y="1463040"/>
            <a:ext cx="10058400" cy="1463040"/>
          </a:xfrm>
          <a:prstGeom prst="rect">
            <a:avLst/>
          </a:prstGeom>
          <a:noFill/>
        </p:spPr>
        <p:txBody>
          <a:bodyPr wrap="square" anchor="t" lIns="25400" rIns="25400" tIns="12700" bIns="12700">
            <a:spAutoFit/>
          </a:bodyPr>
          <a:lstStyle/>
          <a:p>
            <a:pPr algn="l">
              <a:spcBef>
                <a:spcPts val="0"/>
              </a:spcBef>
              <a:spcAft>
                <a:spcPts val="200"/>
              </a:spcAft>
            </a:pPr>
            <a:r>
              <a:rPr sz="9600" b="0">
                <a:solidFill>
                  <a:srgbClr val="FFFFFF"/>
                </a:solidFill>
                <a:latin typeface="Segoe UI"/>
              </a:rPr>
              <a:t>Sarvik</a:t>
            </a:r>
          </a:p>
        </p:txBody>
      </p:sp>
      <p:sp>
        <p:nvSpPr>
          <p:cNvPr id="8" name="TextBox 7"/>
          <p:cNvSpPr txBox="1"/>
          <p:nvPr/>
        </p:nvSpPr>
        <p:spPr>
          <a:xfrm>
            <a:off x="594360" y="3246120"/>
            <a:ext cx="10058400" cy="548640"/>
          </a:xfrm>
          <a:prstGeom prst="rect">
            <a:avLst/>
          </a:prstGeom>
          <a:noFill/>
        </p:spPr>
        <p:txBody>
          <a:bodyPr wrap="square" anchor="t" lIns="25400" rIns="25400" tIns="12700" bIns="12700">
            <a:spAutoFit/>
          </a:bodyPr>
          <a:lstStyle/>
          <a:p>
            <a:pPr algn="l">
              <a:spcBef>
                <a:spcPts val="0"/>
              </a:spcBef>
              <a:spcAft>
                <a:spcPts val="200"/>
              </a:spcAft>
            </a:pPr>
            <a:r>
              <a:rPr sz="2600" b="0">
                <a:solidFill>
                  <a:srgbClr val="DCE5EE"/>
                </a:solidFill>
                <a:latin typeface="Segoe UI"/>
              </a:rPr>
              <a:t>AI decision-support for Members of Parliament</a:t>
            </a:r>
          </a:p>
        </p:txBody>
      </p:sp>
      <p:sp>
        <p:nvSpPr>
          <p:cNvPr id="9" name="TextBox 8"/>
          <p:cNvSpPr txBox="1"/>
          <p:nvPr/>
        </p:nvSpPr>
        <p:spPr>
          <a:xfrm>
            <a:off x="594360" y="3794760"/>
            <a:ext cx="10058400" cy="365760"/>
          </a:xfrm>
          <a:prstGeom prst="rect">
            <a:avLst/>
          </a:prstGeom>
          <a:noFill/>
        </p:spPr>
        <p:txBody>
          <a:bodyPr wrap="square" anchor="t" lIns="25400" rIns="25400" tIns="12700" bIns="12700">
            <a:spAutoFit/>
          </a:bodyPr>
          <a:lstStyle/>
          <a:p>
            <a:pPr algn="l">
              <a:spcBef>
                <a:spcPts val="0"/>
              </a:spcBef>
              <a:spcAft>
                <a:spcPts val="200"/>
              </a:spcAft>
            </a:pPr>
            <a:r>
              <a:rPr sz="1500" b="1">
                <a:solidFill>
                  <a:srgbClr val="0F8A72"/>
                </a:solidFill>
                <a:latin typeface="Segoe UI"/>
              </a:rPr>
              <a:t>Demo constituency  ·  Coimbatore</a:t>
            </a:r>
          </a:p>
        </p:txBody>
      </p:sp>
      <p:sp>
        <p:nvSpPr>
          <p:cNvPr id="10" name="Rounded Rectangle 9"/>
          <p:cNvSpPr/>
          <p:nvPr/>
        </p:nvSpPr>
        <p:spPr>
          <a:xfrm>
            <a:off x="548640" y="4526280"/>
            <a:ext cx="11091672" cy="1234440"/>
          </a:xfrm>
          <a:prstGeom prst="roundRect">
            <a:avLst>
              <a:gd name="adj" fmla="val 6000"/>
            </a:avLst>
          </a:prstGeom>
          <a:solidFill>
            <a:srgbClr val="1633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526280"/>
            <a:ext cx="54864" cy="1234440"/>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617720"/>
            <a:ext cx="10607040" cy="1097280"/>
          </a:xfrm>
          <a:prstGeom prst="rect">
            <a:avLst/>
          </a:prstGeom>
          <a:noFill/>
        </p:spPr>
        <p:txBody>
          <a:bodyPr wrap="square" anchor="ctr" lIns="25400" rIns="25400" tIns="12700" bIns="12700">
            <a:spAutoFit/>
          </a:bodyPr>
          <a:lstStyle/>
          <a:p>
            <a:pPr algn="l">
              <a:spcBef>
                <a:spcPts val="0"/>
              </a:spcBef>
              <a:spcAft>
                <a:spcPts val="200"/>
              </a:spcAft>
            </a:pPr>
            <a:r>
              <a:rPr sz="1700" b="1">
                <a:solidFill>
                  <a:srgbClr val="FFFFFF"/>
                </a:solidFill>
                <a:latin typeface="Segoe UI"/>
              </a:rPr>
              <a:t>“We don’t help an MP spend ₹5 crore. We help unlock the hundreds of crores already owed to their </a:t>
            </a:r>
          </a:p>
          <a:p>
            <a:pPr algn="l">
              <a:spcBef>
                <a:spcPts val="0"/>
              </a:spcBef>
              <a:spcAft>
                <a:spcPts val="200"/>
              </a:spcAft>
            </a:pPr>
            <a:r>
              <a:rPr sz="1700" b="1">
                <a:solidFill>
                  <a:srgbClr val="FFFFFF"/>
                </a:solidFill>
                <a:latin typeface="Segoe UI"/>
              </a:rPr>
              <a:t>people — and spend the ₹5 crore only on the gaps that nothing else covers.”</a:t>
            </a:r>
          </a:p>
        </p:txBody>
      </p:sp>
      <p:sp>
        <p:nvSpPr>
          <p:cNvPr id="13" name="TextBox 12"/>
          <p:cNvSpPr txBox="1"/>
          <p:nvPr/>
        </p:nvSpPr>
        <p:spPr>
          <a:xfrm>
            <a:off x="548640" y="5989320"/>
            <a:ext cx="10972800" cy="320040"/>
          </a:xfrm>
          <a:prstGeom prst="rect">
            <a:avLst/>
          </a:prstGeom>
          <a:noFill/>
        </p:spPr>
        <p:txBody>
          <a:bodyPr wrap="square" anchor="t" lIns="25400" rIns="25400" tIns="12700" bIns="12700">
            <a:spAutoFit/>
          </a:bodyPr>
          <a:lstStyle/>
          <a:p>
            <a:pPr algn="l">
              <a:spcBef>
                <a:spcPts val="0"/>
              </a:spcBef>
              <a:spcAft>
                <a:spcPts val="200"/>
              </a:spcAft>
            </a:pPr>
            <a:r>
              <a:rPr sz="1000" b="1">
                <a:solidFill>
                  <a:srgbClr val="0F8A72"/>
                </a:solidFill>
                <a:latin typeface="Segoe UI"/>
              </a:rPr>
              <a:t>LIVE  </a:t>
            </a:r>
            <a:r>
              <a:rPr sz="1100" b="0">
                <a:solidFill>
                  <a:srgbClr val="B8C6D4"/>
                </a:solidFill>
                <a:latin typeface="Segoe UI"/>
              </a:rPr>
              <a:t>sarvik.web.app     ·     Cloud Run API     ·     github.com/Saravana-Rajan/Build-With-AI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C75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2</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THE PROBLEM</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The system optimises the wrong number</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An MP’s discretionary MPLADS fund is about ₹5 crore a year — tiny against a whole constituency’s needs. Meanwhile, far larger sums their constituents are already entitled to under central and state schemes never arrive. We fuss over the ₹5 crore and ignore the crores already owed.</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02 / 12</a:t>
            </a:r>
          </a:p>
        </p:txBody>
      </p:sp>
      <p:sp>
        <p:nvSpPr>
          <p:cNvPr id="13" name="Rounded Rectangle 12"/>
          <p:cNvSpPr/>
          <p:nvPr/>
        </p:nvSpPr>
        <p:spPr>
          <a:xfrm>
            <a:off x="2194560" y="3108960"/>
            <a:ext cx="1463040" cy="2743200"/>
          </a:xfrm>
          <a:prstGeom prst="roundRect">
            <a:avLst>
              <a:gd name="adj" fmla="val 6000"/>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0" y="2697480"/>
            <a:ext cx="2194560" cy="320040"/>
          </a:xfrm>
          <a:prstGeom prst="rect">
            <a:avLst/>
          </a:prstGeom>
          <a:noFill/>
        </p:spPr>
        <p:txBody>
          <a:bodyPr wrap="square" anchor="t" lIns="25400" rIns="25400" tIns="12700" bIns="12700">
            <a:spAutoFit/>
          </a:bodyPr>
          <a:lstStyle/>
          <a:p>
            <a:pPr algn="ctr">
              <a:spcBef>
                <a:spcPts val="0"/>
              </a:spcBef>
              <a:spcAft>
                <a:spcPts val="200"/>
              </a:spcAft>
            </a:pPr>
            <a:r>
              <a:rPr sz="2200" b="1">
                <a:solidFill>
                  <a:srgbClr val="0A6656"/>
                </a:solidFill>
                <a:latin typeface="Segoe UI"/>
              </a:rPr>
              <a:t>₹463 crore</a:t>
            </a:r>
          </a:p>
        </p:txBody>
      </p:sp>
      <p:sp>
        <p:nvSpPr>
          <p:cNvPr id="15" name="TextBox 14"/>
          <p:cNvSpPr txBox="1"/>
          <p:nvPr/>
        </p:nvSpPr>
        <p:spPr>
          <a:xfrm>
            <a:off x="1554480" y="2971800"/>
            <a:ext cx="2743200" cy="274320"/>
          </a:xfrm>
          <a:prstGeom prst="rect">
            <a:avLst/>
          </a:prstGeom>
          <a:noFill/>
        </p:spPr>
        <p:txBody>
          <a:bodyPr wrap="square" anchor="t" lIns="25400" rIns="25400" tIns="12700" bIns="12700">
            <a:spAutoFit/>
          </a:bodyPr>
          <a:lstStyle/>
          <a:p>
            <a:pPr algn="ctr">
              <a:spcBef>
                <a:spcPts val="0"/>
              </a:spcBef>
              <a:spcAft>
                <a:spcPts val="200"/>
              </a:spcAft>
            </a:pPr>
            <a:r>
              <a:rPr sz="1200" b="0">
                <a:solidFill>
                  <a:srgbClr val="5E7186"/>
                </a:solidFill>
                <a:latin typeface="Segoe UI"/>
              </a:rPr>
              <a:t>already owed under existing schemes</a:t>
            </a:r>
          </a:p>
        </p:txBody>
      </p:sp>
      <p:sp>
        <p:nvSpPr>
          <p:cNvPr id="16" name="Rounded Rectangle 15"/>
          <p:cNvSpPr/>
          <p:nvPr/>
        </p:nvSpPr>
        <p:spPr>
          <a:xfrm>
            <a:off x="7315200" y="5715000"/>
            <a:ext cx="1463040" cy="137160"/>
          </a:xfrm>
          <a:prstGeom prst="roundRect">
            <a:avLst>
              <a:gd name="adj" fmla="val 6000"/>
            </a:avLst>
          </a:prstGeom>
          <a:solidFill>
            <a:srgbClr val="C75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0" y="5303520"/>
            <a:ext cx="2194560" cy="274320"/>
          </a:xfrm>
          <a:prstGeom prst="rect">
            <a:avLst/>
          </a:prstGeom>
          <a:noFill/>
        </p:spPr>
        <p:txBody>
          <a:bodyPr wrap="square" anchor="t" lIns="25400" rIns="25400" tIns="12700" bIns="12700">
            <a:spAutoFit/>
          </a:bodyPr>
          <a:lstStyle/>
          <a:p>
            <a:pPr algn="ctr">
              <a:spcBef>
                <a:spcPts val="0"/>
              </a:spcBef>
              <a:spcAft>
                <a:spcPts val="200"/>
              </a:spcAft>
            </a:pPr>
            <a:r>
              <a:rPr sz="1200" b="0">
                <a:solidFill>
                  <a:srgbClr val="5E7186"/>
                </a:solidFill>
                <a:latin typeface="Segoe UI"/>
              </a:rPr>
              <a:t>MPLADS discretionary / year</a:t>
            </a:r>
          </a:p>
        </p:txBody>
      </p:sp>
      <p:sp>
        <p:nvSpPr>
          <p:cNvPr id="18" name="TextBox 17"/>
          <p:cNvSpPr txBox="1"/>
          <p:nvPr/>
        </p:nvSpPr>
        <p:spPr>
          <a:xfrm>
            <a:off x="6949440" y="4937760"/>
            <a:ext cx="2194560" cy="320040"/>
          </a:xfrm>
          <a:prstGeom prst="rect">
            <a:avLst/>
          </a:prstGeom>
          <a:noFill/>
        </p:spPr>
        <p:txBody>
          <a:bodyPr wrap="square" anchor="t" lIns="25400" rIns="25400" tIns="12700" bIns="12700">
            <a:spAutoFit/>
          </a:bodyPr>
          <a:lstStyle/>
          <a:p>
            <a:pPr algn="ctr">
              <a:spcBef>
                <a:spcPts val="0"/>
              </a:spcBef>
              <a:spcAft>
                <a:spcPts val="200"/>
              </a:spcAft>
            </a:pPr>
            <a:r>
              <a:rPr sz="2200" b="1">
                <a:solidFill>
                  <a:srgbClr val="C7574E"/>
                </a:solidFill>
                <a:latin typeface="Segoe UI"/>
              </a:rPr>
              <a:t>₹5 crore</a:t>
            </a:r>
          </a:p>
        </p:txBody>
      </p:sp>
      <p:sp>
        <p:nvSpPr>
          <p:cNvPr id="19" name="Rounded Rectangle 18"/>
          <p:cNvSpPr/>
          <p:nvPr/>
        </p:nvSpPr>
        <p:spPr>
          <a:xfrm>
            <a:off x="8686800" y="2834640"/>
            <a:ext cx="2926080" cy="173736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5400" y="3017520"/>
            <a:ext cx="2560320" cy="640080"/>
          </a:xfrm>
          <a:prstGeom prst="rect">
            <a:avLst/>
          </a:prstGeom>
          <a:noFill/>
        </p:spPr>
        <p:txBody>
          <a:bodyPr wrap="square" anchor="t" lIns="25400" rIns="25400" tIns="12700" bIns="12700">
            <a:spAutoFit/>
          </a:bodyPr>
          <a:lstStyle/>
          <a:p>
            <a:pPr algn="l">
              <a:spcBef>
                <a:spcPts val="0"/>
              </a:spcBef>
              <a:spcAft>
                <a:spcPts val="200"/>
              </a:spcAft>
            </a:pPr>
            <a:r>
              <a:rPr sz="3800" b="1">
                <a:solidFill>
                  <a:srgbClr val="0E2A47"/>
                </a:solidFill>
                <a:latin typeface="Segoe UI"/>
              </a:rPr>
              <a:t>≈ 93×</a:t>
            </a:r>
          </a:p>
        </p:txBody>
      </p:sp>
      <p:sp>
        <p:nvSpPr>
          <p:cNvPr id="21" name="TextBox 20"/>
          <p:cNvSpPr txBox="1"/>
          <p:nvPr/>
        </p:nvSpPr>
        <p:spPr>
          <a:xfrm>
            <a:off x="8915400" y="3749039"/>
            <a:ext cx="2468880" cy="731520"/>
          </a:xfrm>
          <a:prstGeom prst="rect">
            <a:avLst/>
          </a:prstGeom>
          <a:noFill/>
        </p:spPr>
        <p:txBody>
          <a:bodyPr wrap="square" anchor="t" lIns="25400" rIns="25400" tIns="12700" bIns="12700">
            <a:spAutoFit/>
          </a:bodyPr>
          <a:lstStyle/>
          <a:p>
            <a:pPr algn="l">
              <a:spcBef>
                <a:spcPts val="0"/>
              </a:spcBef>
              <a:spcAft>
                <a:spcPts val="200"/>
              </a:spcAft>
            </a:pPr>
            <a:r>
              <a:rPr sz="1250" b="0">
                <a:solidFill>
                  <a:srgbClr val="5E7186"/>
                </a:solidFill>
                <a:latin typeface="Segoe UI"/>
              </a:rPr>
              <a:t>more is owed to the constituency than the MP can ever discretionarily spend.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C75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3</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THE SHARPER PROBLEM</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The bottleneck isn’t funding — it’s translation</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The money is unclaimed because no one connects an individual complaint to the specific scheme that owes it. Grievances arrive by voice, paper and photo, in Tamil, Hindi and English. The loudest wards dominate; the neediest, quietest villages stay invisible.</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03 / 12</a:t>
            </a:r>
          </a:p>
        </p:txBody>
      </p:sp>
      <p:sp>
        <p:nvSpPr>
          <p:cNvPr id="13" name="Rounded Rectangle 12"/>
          <p:cNvSpPr/>
          <p:nvPr/>
        </p:nvSpPr>
        <p:spPr>
          <a:xfrm>
            <a:off x="822960" y="2926080"/>
            <a:ext cx="2286000" cy="45720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2926080"/>
            <a:ext cx="54864" cy="457200"/>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926080"/>
            <a:ext cx="2103120" cy="457200"/>
          </a:xfrm>
          <a:prstGeom prst="rect">
            <a:avLst/>
          </a:prstGeom>
          <a:noFill/>
        </p:spPr>
        <p:txBody>
          <a:bodyPr wrap="square" anchor="ctr" lIns="25400" rIns="25400" tIns="12700" bIns="12700">
            <a:spAutoFit/>
          </a:bodyPr>
          <a:lstStyle/>
          <a:p>
            <a:pPr algn="l">
              <a:spcBef>
                <a:spcPts val="0"/>
              </a:spcBef>
              <a:spcAft>
                <a:spcPts val="200"/>
              </a:spcAft>
            </a:pPr>
            <a:r>
              <a:rPr sz="1250" b="1">
                <a:solidFill>
                  <a:srgbClr val="0E2A47"/>
                </a:solidFill>
                <a:latin typeface="Segoe UI"/>
              </a:rPr>
              <a:t>Voice  ·  Tamil</a:t>
            </a:r>
          </a:p>
        </p:txBody>
      </p:sp>
      <p:sp>
        <p:nvSpPr>
          <p:cNvPr id="16" name="Rounded Rectangle 15"/>
          <p:cNvSpPr/>
          <p:nvPr/>
        </p:nvSpPr>
        <p:spPr>
          <a:xfrm>
            <a:off x="822960" y="3493008"/>
            <a:ext cx="2286000" cy="45720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3493008"/>
            <a:ext cx="54864" cy="457200"/>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493008"/>
            <a:ext cx="2103120" cy="457200"/>
          </a:xfrm>
          <a:prstGeom prst="rect">
            <a:avLst/>
          </a:prstGeom>
          <a:noFill/>
        </p:spPr>
        <p:txBody>
          <a:bodyPr wrap="square" anchor="ctr" lIns="25400" rIns="25400" tIns="12700" bIns="12700">
            <a:spAutoFit/>
          </a:bodyPr>
          <a:lstStyle/>
          <a:p>
            <a:pPr algn="l">
              <a:spcBef>
                <a:spcPts val="0"/>
              </a:spcBef>
              <a:spcAft>
                <a:spcPts val="200"/>
              </a:spcAft>
            </a:pPr>
            <a:r>
              <a:rPr sz="1250" b="1">
                <a:solidFill>
                  <a:srgbClr val="0E2A47"/>
                </a:solidFill>
                <a:latin typeface="Segoe UI"/>
              </a:rPr>
              <a:t>Paper petition  ·  Hindi</a:t>
            </a:r>
          </a:p>
        </p:txBody>
      </p:sp>
      <p:sp>
        <p:nvSpPr>
          <p:cNvPr id="19" name="Rounded Rectangle 18"/>
          <p:cNvSpPr/>
          <p:nvPr/>
        </p:nvSpPr>
        <p:spPr>
          <a:xfrm>
            <a:off x="822960" y="4059936"/>
            <a:ext cx="2286000" cy="45720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4059936"/>
            <a:ext cx="54864" cy="457200"/>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059936"/>
            <a:ext cx="2103120" cy="457200"/>
          </a:xfrm>
          <a:prstGeom prst="rect">
            <a:avLst/>
          </a:prstGeom>
          <a:noFill/>
        </p:spPr>
        <p:txBody>
          <a:bodyPr wrap="square" anchor="ctr" lIns="25400" rIns="25400" tIns="12700" bIns="12700">
            <a:spAutoFit/>
          </a:bodyPr>
          <a:lstStyle/>
          <a:p>
            <a:pPr algn="l">
              <a:spcBef>
                <a:spcPts val="0"/>
              </a:spcBef>
              <a:spcAft>
                <a:spcPts val="200"/>
              </a:spcAft>
            </a:pPr>
            <a:r>
              <a:rPr sz="1250" b="1">
                <a:solidFill>
                  <a:srgbClr val="0E2A47"/>
                </a:solidFill>
                <a:latin typeface="Segoe UI"/>
              </a:rPr>
              <a:t>Photo  ·  English</a:t>
            </a:r>
          </a:p>
        </p:txBody>
      </p:sp>
      <p:sp>
        <p:nvSpPr>
          <p:cNvPr id="22" name="Rounded Rectangle 21"/>
          <p:cNvSpPr/>
          <p:nvPr/>
        </p:nvSpPr>
        <p:spPr>
          <a:xfrm>
            <a:off x="822960" y="4626864"/>
            <a:ext cx="2286000" cy="45720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4626864"/>
            <a:ext cx="54864" cy="457200"/>
          </a:xfrm>
          <a:prstGeom prst="rect">
            <a:avLst/>
          </a:prstGeom>
          <a:solidFill>
            <a:srgbClr val="1B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626864"/>
            <a:ext cx="2103120" cy="457200"/>
          </a:xfrm>
          <a:prstGeom prst="rect">
            <a:avLst/>
          </a:prstGeom>
          <a:noFill/>
        </p:spPr>
        <p:txBody>
          <a:bodyPr wrap="square" anchor="ctr" lIns="25400" rIns="25400" tIns="12700" bIns="12700">
            <a:spAutoFit/>
          </a:bodyPr>
          <a:lstStyle/>
          <a:p>
            <a:pPr algn="l">
              <a:spcBef>
                <a:spcPts val="0"/>
              </a:spcBef>
              <a:spcAft>
                <a:spcPts val="200"/>
              </a:spcAft>
            </a:pPr>
            <a:r>
              <a:rPr sz="1250" b="1">
                <a:solidFill>
                  <a:srgbClr val="0E2A47"/>
                </a:solidFill>
                <a:latin typeface="Segoe UI"/>
              </a:rPr>
              <a:t>Text message  ·  Tamil</a:t>
            </a:r>
          </a:p>
        </p:txBody>
      </p:sp>
      <p:sp>
        <p:nvSpPr>
          <p:cNvPr id="25" name="Rounded Rectangle 24"/>
          <p:cNvSpPr/>
          <p:nvPr/>
        </p:nvSpPr>
        <p:spPr>
          <a:xfrm>
            <a:off x="4846320" y="3566160"/>
            <a:ext cx="1188720" cy="1188720"/>
          </a:xfrm>
          <a:prstGeom prst="roundRect">
            <a:avLst>
              <a:gd name="adj" fmla="val 6000"/>
            </a:avLst>
          </a:prstGeom>
          <a:solidFill>
            <a:srgbClr val="E7F3F0"/>
          </a:solidFill>
          <a:ln w="15240">
            <a:solidFill>
              <a:srgbClr val="0F8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46320" y="3611880"/>
            <a:ext cx="1188720" cy="640080"/>
          </a:xfrm>
          <a:prstGeom prst="rect">
            <a:avLst/>
          </a:prstGeom>
          <a:noFill/>
        </p:spPr>
        <p:txBody>
          <a:bodyPr wrap="square" anchor="t" lIns="25400" rIns="25400" tIns="12700" bIns="12700">
            <a:spAutoFit/>
          </a:bodyPr>
          <a:lstStyle/>
          <a:p>
            <a:pPr algn="ctr">
              <a:spcBef>
                <a:spcPts val="0"/>
              </a:spcBef>
              <a:spcAft>
                <a:spcPts val="200"/>
              </a:spcAft>
            </a:pPr>
            <a:r>
              <a:rPr sz="3400" b="1">
                <a:solidFill>
                  <a:srgbClr val="0F8A72"/>
                </a:solidFill>
                <a:latin typeface="Segoe UI"/>
              </a:rPr>
              <a:t>?</a:t>
            </a:r>
          </a:p>
        </p:txBody>
      </p:sp>
      <p:sp>
        <p:nvSpPr>
          <p:cNvPr id="27" name="TextBox 26"/>
          <p:cNvSpPr txBox="1"/>
          <p:nvPr/>
        </p:nvSpPr>
        <p:spPr>
          <a:xfrm>
            <a:off x="4846320" y="4251960"/>
            <a:ext cx="1188720" cy="457200"/>
          </a:xfrm>
          <a:prstGeom prst="rect">
            <a:avLst/>
          </a:prstGeom>
          <a:noFill/>
        </p:spPr>
        <p:txBody>
          <a:bodyPr wrap="square" anchor="t" lIns="25400" rIns="25400" tIns="12700" bIns="12700">
            <a:spAutoFit/>
          </a:bodyPr>
          <a:lstStyle/>
          <a:p>
            <a:pPr algn="ctr">
              <a:spcBef>
                <a:spcPts val="0"/>
              </a:spcBef>
              <a:spcAft>
                <a:spcPts val="200"/>
              </a:spcAft>
            </a:pPr>
            <a:r>
              <a:rPr sz="1000" b="0">
                <a:solidFill>
                  <a:srgbClr val="0A6656"/>
                </a:solidFill>
                <a:latin typeface="Segoe UI"/>
              </a:rPr>
              <a:t>which scheme owes this</a:t>
            </a:r>
          </a:p>
        </p:txBody>
      </p:sp>
      <p:sp>
        <p:nvSpPr>
          <p:cNvPr id="28" name="Rounded Rectangle 27"/>
          <p:cNvSpPr/>
          <p:nvPr/>
        </p:nvSpPr>
        <p:spPr>
          <a:xfrm>
            <a:off x="6766560" y="3429000"/>
            <a:ext cx="4480560" cy="594360"/>
          </a:xfrm>
          <a:prstGeom prst="roundRect">
            <a:avLst>
              <a:gd name="adj" fmla="val 6000"/>
            </a:avLst>
          </a:prstGeom>
          <a:solidFill>
            <a:srgbClr val="FFFFFF"/>
          </a:solidFill>
          <a:ln w="16510">
            <a:solidFill>
              <a:srgbClr val="0F8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0" y="3474720"/>
            <a:ext cx="4206240" cy="548640"/>
          </a:xfrm>
          <a:prstGeom prst="rect">
            <a:avLst/>
          </a:prstGeom>
          <a:noFill/>
        </p:spPr>
        <p:txBody>
          <a:bodyPr wrap="square" anchor="ctr" lIns="25400" rIns="25400" tIns="12700" bIns="12700">
            <a:spAutoFit/>
          </a:bodyPr>
          <a:lstStyle/>
          <a:p>
            <a:pPr algn="l">
              <a:spcBef>
                <a:spcPts val="0"/>
              </a:spcBef>
              <a:spcAft>
                <a:spcPts val="200"/>
              </a:spcAft>
            </a:pPr>
            <a:r>
              <a:rPr sz="1300" b="1">
                <a:solidFill>
                  <a:srgbClr val="0A6656"/>
                </a:solidFill>
                <a:latin typeface="Segoe UI"/>
              </a:rPr>
              <a:t>A few connect to a scheme</a:t>
            </a:r>
          </a:p>
          <a:p>
            <a:pPr algn="l">
              <a:spcBef>
                <a:spcPts val="0"/>
              </a:spcBef>
              <a:spcAft>
                <a:spcPts val="200"/>
              </a:spcAft>
            </a:pPr>
            <a:r>
              <a:rPr sz="1100" b="0">
                <a:solidFill>
                  <a:srgbClr val="5E7186"/>
                </a:solidFill>
                <a:latin typeface="Segoe UI"/>
              </a:rPr>
              <a:t>the loud, well-formed, urban complaints</a:t>
            </a:r>
          </a:p>
        </p:txBody>
      </p:sp>
      <p:sp>
        <p:nvSpPr>
          <p:cNvPr id="30" name="Rounded Rectangle 29"/>
          <p:cNvSpPr/>
          <p:nvPr/>
        </p:nvSpPr>
        <p:spPr>
          <a:xfrm>
            <a:off x="6766560" y="4251960"/>
            <a:ext cx="4480560" cy="777240"/>
          </a:xfrm>
          <a:prstGeom prst="roundRect">
            <a:avLst>
              <a:gd name="adj" fmla="val 6000"/>
            </a:avLst>
          </a:prstGeom>
          <a:solidFill>
            <a:srgbClr val="F9EEED"/>
          </a:solidFill>
          <a:ln w="12700">
            <a:solidFill>
              <a:srgbClr val="E3AB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0" y="4315968"/>
            <a:ext cx="4206240" cy="685800"/>
          </a:xfrm>
          <a:prstGeom prst="rect">
            <a:avLst/>
          </a:prstGeom>
          <a:noFill/>
        </p:spPr>
        <p:txBody>
          <a:bodyPr wrap="square" anchor="ctr" lIns="25400" rIns="25400" tIns="12700" bIns="12700">
            <a:spAutoFit/>
          </a:bodyPr>
          <a:lstStyle/>
          <a:p>
            <a:pPr algn="l">
              <a:spcBef>
                <a:spcPts val="0"/>
              </a:spcBef>
              <a:spcAft>
                <a:spcPts val="200"/>
              </a:spcAft>
            </a:pPr>
            <a:r>
              <a:rPr sz="1300" b="1">
                <a:solidFill>
                  <a:srgbClr val="C7574E"/>
                </a:solidFill>
                <a:latin typeface="Segoe UI"/>
              </a:rPr>
              <a:t>Most fall on the floor</a:t>
            </a:r>
          </a:p>
          <a:p>
            <a:pPr algn="l">
              <a:spcBef>
                <a:spcPts val="0"/>
              </a:spcBef>
              <a:spcAft>
                <a:spcPts val="200"/>
              </a:spcAft>
            </a:pPr>
            <a:r>
              <a:rPr sz="1100" b="0">
                <a:solidFill>
                  <a:srgbClr val="5E7186"/>
                </a:solidFill>
                <a:latin typeface="Segoe UI"/>
              </a:rPr>
              <a:t>un-routed, un-priced, and the quiet village never files a complaint at 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4</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THE SOLUTION</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A two-floor model: unlock first, then spend</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Basics done well, and a differentiator that reframes the job. The differentiator isn’t spending the ₹5 crore better — it’s unlocking the money already owed.</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04 / 12</a:t>
            </a:r>
          </a:p>
        </p:txBody>
      </p:sp>
      <p:sp>
        <p:nvSpPr>
          <p:cNvPr id="13" name="Rounded Rectangle 12"/>
          <p:cNvSpPr/>
          <p:nvPr/>
        </p:nvSpPr>
        <p:spPr>
          <a:xfrm>
            <a:off x="548640" y="2423160"/>
            <a:ext cx="11091672" cy="1371600"/>
          </a:xfrm>
          <a:prstGeom prst="roundRect">
            <a:avLst>
              <a:gd name="adj" fmla="val 6000"/>
            </a:avLst>
          </a:prstGeom>
          <a:solidFill>
            <a:srgbClr val="F7EDDF"/>
          </a:solidFill>
          <a:ln w="15240">
            <a:solidFill>
              <a:srgbClr val="DFBB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423160"/>
            <a:ext cx="73152" cy="1371600"/>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2960" y="2587752"/>
            <a:ext cx="2651760" cy="310896"/>
          </a:xfrm>
          <a:prstGeom prst="roundRect">
            <a:avLst>
              <a:gd name="adj" fmla="val 6000"/>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587752"/>
            <a:ext cx="2651760" cy="310896"/>
          </a:xfrm>
          <a:prstGeom prst="rect">
            <a:avLst/>
          </a:prstGeom>
          <a:noFill/>
        </p:spPr>
        <p:txBody>
          <a:bodyPr wrap="square" anchor="ctr" lIns="25400" rIns="25400" tIns="12700" bIns="12700">
            <a:spAutoFit/>
          </a:bodyPr>
          <a:lstStyle/>
          <a:p>
            <a:pPr algn="ctr">
              <a:spcBef>
                <a:spcPts val="0"/>
              </a:spcBef>
              <a:spcAft>
                <a:spcPts val="200"/>
              </a:spcAft>
            </a:pPr>
            <a:r>
              <a:rPr sz="1050" b="1">
                <a:solidFill>
                  <a:srgbClr val="FFFFFF"/>
                </a:solidFill>
                <a:latin typeface="Segoe UI"/>
              </a:rPr>
              <a:t>FLOOR 2  ·  DIFFERENTIATOR</a:t>
            </a:r>
          </a:p>
        </p:txBody>
      </p:sp>
      <p:sp>
        <p:nvSpPr>
          <p:cNvPr id="17" name="TextBox 16"/>
          <p:cNvSpPr txBox="1"/>
          <p:nvPr/>
        </p:nvSpPr>
        <p:spPr>
          <a:xfrm>
            <a:off x="822960" y="2926080"/>
            <a:ext cx="10058400" cy="411480"/>
          </a:xfrm>
          <a:prstGeom prst="rect">
            <a:avLst/>
          </a:prstGeom>
          <a:noFill/>
        </p:spPr>
        <p:txBody>
          <a:bodyPr wrap="square" anchor="t" lIns="25400" rIns="25400" tIns="12700" bIns="12700">
            <a:spAutoFit/>
          </a:bodyPr>
          <a:lstStyle/>
          <a:p>
            <a:pPr algn="l">
              <a:spcBef>
                <a:spcPts val="0"/>
              </a:spcBef>
              <a:spcAft>
                <a:spcPts val="200"/>
              </a:spcAft>
            </a:pPr>
            <a:r>
              <a:rPr sz="2000" b="0">
                <a:solidFill>
                  <a:srgbClr val="0E2A47"/>
                </a:solidFill>
                <a:latin typeface="Segoe UI"/>
              </a:rPr>
              <a:t>Spend the ₹5 crore only on the gaps nothing else covers</a:t>
            </a:r>
          </a:p>
        </p:txBody>
      </p:sp>
      <p:sp>
        <p:nvSpPr>
          <p:cNvPr id="18" name="TextBox 17"/>
          <p:cNvSpPr txBox="1"/>
          <p:nvPr/>
        </p:nvSpPr>
        <p:spPr>
          <a:xfrm>
            <a:off x="822960" y="3355848"/>
            <a:ext cx="3474720" cy="365760"/>
          </a:xfrm>
          <a:prstGeom prst="rect">
            <a:avLst/>
          </a:prstGeom>
          <a:noFill/>
        </p:spPr>
        <p:txBody>
          <a:bodyPr wrap="square" anchor="t" lIns="25400" rIns="25400" tIns="12700" bIns="12700">
            <a:spAutoFit/>
          </a:bodyPr>
          <a:lstStyle/>
          <a:p>
            <a:pPr algn="l">
              <a:spcBef>
                <a:spcPts val="0"/>
              </a:spcBef>
              <a:spcAft>
                <a:spcPts val="200"/>
              </a:spcAft>
            </a:pPr>
            <a:r>
              <a:rPr sz="1300" b="1">
                <a:solidFill>
                  <a:srgbClr val="C6851B"/>
                </a:solidFill>
                <a:latin typeface="Segoe UI"/>
              </a:rPr>
              <a:t>→  </a:t>
            </a:r>
            <a:r>
              <a:rPr sz="1300" b="1">
                <a:solidFill>
                  <a:srgbClr val="1B3D5E"/>
                </a:solidFill>
                <a:latin typeface="Segoe UI"/>
              </a:rPr>
              <a:t>Quantify what is owed (gap-math)</a:t>
            </a:r>
          </a:p>
        </p:txBody>
      </p:sp>
      <p:sp>
        <p:nvSpPr>
          <p:cNvPr id="19" name="TextBox 18"/>
          <p:cNvSpPr txBox="1"/>
          <p:nvPr/>
        </p:nvSpPr>
        <p:spPr>
          <a:xfrm>
            <a:off x="4434840" y="3355848"/>
            <a:ext cx="3474720" cy="365760"/>
          </a:xfrm>
          <a:prstGeom prst="rect">
            <a:avLst/>
          </a:prstGeom>
          <a:noFill/>
        </p:spPr>
        <p:txBody>
          <a:bodyPr wrap="square" anchor="t" lIns="25400" rIns="25400" tIns="12700" bIns="12700">
            <a:spAutoFit/>
          </a:bodyPr>
          <a:lstStyle/>
          <a:p>
            <a:pPr algn="l">
              <a:spcBef>
                <a:spcPts val="0"/>
              </a:spcBef>
              <a:spcAft>
                <a:spcPts val="200"/>
              </a:spcAft>
            </a:pPr>
            <a:r>
              <a:rPr sz="1300" b="1">
                <a:solidFill>
                  <a:srgbClr val="C6851B"/>
                </a:solidFill>
                <a:latin typeface="Segoe UI"/>
              </a:rPr>
              <a:t>→  </a:t>
            </a:r>
            <a:r>
              <a:rPr sz="1300" b="1">
                <a:solidFill>
                  <a:srgbClr val="1B3D5E"/>
                </a:solidFill>
                <a:latin typeface="Segoe UI"/>
              </a:rPr>
              <a:t>Find the forgotten, silent villages</a:t>
            </a:r>
          </a:p>
        </p:txBody>
      </p:sp>
      <p:sp>
        <p:nvSpPr>
          <p:cNvPr id="20" name="TextBox 19"/>
          <p:cNvSpPr txBox="1"/>
          <p:nvPr/>
        </p:nvSpPr>
        <p:spPr>
          <a:xfrm>
            <a:off x="8046720" y="3355848"/>
            <a:ext cx="3474720" cy="365760"/>
          </a:xfrm>
          <a:prstGeom prst="rect">
            <a:avLst/>
          </a:prstGeom>
          <a:noFill/>
        </p:spPr>
        <p:txBody>
          <a:bodyPr wrap="square" anchor="t" lIns="25400" rIns="25400" tIns="12700" bIns="12700">
            <a:spAutoFit/>
          </a:bodyPr>
          <a:lstStyle/>
          <a:p>
            <a:pPr algn="l">
              <a:spcBef>
                <a:spcPts val="0"/>
              </a:spcBef>
              <a:spcAft>
                <a:spcPts val="200"/>
              </a:spcAft>
            </a:pPr>
            <a:r>
              <a:rPr sz="1300" b="1">
                <a:solidFill>
                  <a:srgbClr val="C6851B"/>
                </a:solidFill>
                <a:latin typeface="Segoe UI"/>
              </a:rPr>
              <a:t>→  </a:t>
            </a:r>
            <a:r>
              <a:rPr sz="1300" b="1">
                <a:solidFill>
                  <a:srgbClr val="1B3D5E"/>
                </a:solidFill>
                <a:latin typeface="Segoe UI"/>
              </a:rPr>
              <a:t>Optimise ₹5cr across true, uncovered gaps</a:t>
            </a:r>
          </a:p>
        </p:txBody>
      </p:sp>
      <p:sp>
        <p:nvSpPr>
          <p:cNvPr id="21" name="Rounded Rectangle 20"/>
          <p:cNvSpPr/>
          <p:nvPr/>
        </p:nvSpPr>
        <p:spPr>
          <a:xfrm>
            <a:off x="548640" y="4160520"/>
            <a:ext cx="11091672" cy="1371600"/>
          </a:xfrm>
          <a:prstGeom prst="roundRect">
            <a:avLst>
              <a:gd name="adj" fmla="val 6000"/>
            </a:avLst>
          </a:prstGeom>
          <a:solidFill>
            <a:srgbClr val="E7F3F0"/>
          </a:solidFill>
          <a:ln w="15240">
            <a:solidFill>
              <a:srgbClr val="7BBE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160520"/>
            <a:ext cx="73152" cy="1371600"/>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2960" y="4325112"/>
            <a:ext cx="2651760" cy="310896"/>
          </a:xfrm>
          <a:prstGeom prst="roundRect">
            <a:avLst>
              <a:gd name="adj" fmla="val 6000"/>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325112"/>
            <a:ext cx="2651760" cy="310896"/>
          </a:xfrm>
          <a:prstGeom prst="rect">
            <a:avLst/>
          </a:prstGeom>
          <a:noFill/>
        </p:spPr>
        <p:txBody>
          <a:bodyPr wrap="square" anchor="ctr" lIns="25400" rIns="25400" tIns="12700" bIns="12700">
            <a:spAutoFit/>
          </a:bodyPr>
          <a:lstStyle/>
          <a:p>
            <a:pPr algn="ctr">
              <a:spcBef>
                <a:spcPts val="0"/>
              </a:spcBef>
              <a:spcAft>
                <a:spcPts val="200"/>
              </a:spcAft>
            </a:pPr>
            <a:r>
              <a:rPr sz="1050" b="1">
                <a:solidFill>
                  <a:srgbClr val="FFFFFF"/>
                </a:solidFill>
                <a:latin typeface="Segoe UI"/>
              </a:rPr>
              <a:t>FLOOR 1  ·  REQUIRED BASICS</a:t>
            </a:r>
          </a:p>
        </p:txBody>
      </p:sp>
      <p:sp>
        <p:nvSpPr>
          <p:cNvPr id="25" name="TextBox 24"/>
          <p:cNvSpPr txBox="1"/>
          <p:nvPr/>
        </p:nvSpPr>
        <p:spPr>
          <a:xfrm>
            <a:off x="822960" y="4663440"/>
            <a:ext cx="10058400" cy="411480"/>
          </a:xfrm>
          <a:prstGeom prst="rect">
            <a:avLst/>
          </a:prstGeom>
          <a:noFill/>
        </p:spPr>
        <p:txBody>
          <a:bodyPr wrap="square" anchor="t" lIns="25400" rIns="25400" tIns="12700" bIns="12700">
            <a:spAutoFit/>
          </a:bodyPr>
          <a:lstStyle/>
          <a:p>
            <a:pPr algn="l">
              <a:spcBef>
                <a:spcPts val="0"/>
              </a:spcBef>
              <a:spcAft>
                <a:spcPts val="200"/>
              </a:spcAft>
            </a:pPr>
            <a:r>
              <a:rPr sz="2000" b="0">
                <a:solidFill>
                  <a:srgbClr val="0E2A47"/>
                </a:solidFill>
                <a:latin typeface="Segoe UI"/>
              </a:rPr>
              <a:t>Capture every complaint and unlock what’s owed</a:t>
            </a:r>
          </a:p>
        </p:txBody>
      </p:sp>
      <p:sp>
        <p:nvSpPr>
          <p:cNvPr id="26" name="TextBox 25"/>
          <p:cNvSpPr txBox="1"/>
          <p:nvPr/>
        </p:nvSpPr>
        <p:spPr>
          <a:xfrm>
            <a:off x="822960" y="5093208"/>
            <a:ext cx="3474720" cy="365760"/>
          </a:xfrm>
          <a:prstGeom prst="rect">
            <a:avLst/>
          </a:prstGeom>
          <a:noFill/>
        </p:spPr>
        <p:txBody>
          <a:bodyPr wrap="square" anchor="t" lIns="25400" rIns="25400" tIns="12700" bIns="12700">
            <a:spAutoFit/>
          </a:bodyPr>
          <a:lstStyle/>
          <a:p>
            <a:pPr algn="l">
              <a:spcBef>
                <a:spcPts val="0"/>
              </a:spcBef>
              <a:spcAft>
                <a:spcPts val="200"/>
              </a:spcAft>
            </a:pPr>
            <a:r>
              <a:rPr sz="1300" b="1">
                <a:solidFill>
                  <a:srgbClr val="0F8A72"/>
                </a:solidFill>
                <a:latin typeface="Segoe UI"/>
              </a:rPr>
              <a:t>→  </a:t>
            </a:r>
            <a:r>
              <a:rPr sz="1300" b="1">
                <a:solidFill>
                  <a:srgbClr val="1B3D5E"/>
                </a:solidFill>
                <a:latin typeface="Segoe UI"/>
              </a:rPr>
              <a:t>Capture · dedupe · locate every grievance</a:t>
            </a:r>
          </a:p>
        </p:txBody>
      </p:sp>
      <p:sp>
        <p:nvSpPr>
          <p:cNvPr id="27" name="TextBox 26"/>
          <p:cNvSpPr txBox="1"/>
          <p:nvPr/>
        </p:nvSpPr>
        <p:spPr>
          <a:xfrm>
            <a:off x="4434840" y="5093208"/>
            <a:ext cx="3474720" cy="365760"/>
          </a:xfrm>
          <a:prstGeom prst="rect">
            <a:avLst/>
          </a:prstGeom>
          <a:noFill/>
        </p:spPr>
        <p:txBody>
          <a:bodyPr wrap="square" anchor="t" lIns="25400" rIns="25400" tIns="12700" bIns="12700">
            <a:spAutoFit/>
          </a:bodyPr>
          <a:lstStyle/>
          <a:p>
            <a:pPr algn="l">
              <a:spcBef>
                <a:spcPts val="0"/>
              </a:spcBef>
              <a:spcAft>
                <a:spcPts val="200"/>
              </a:spcAft>
            </a:pPr>
            <a:r>
              <a:rPr sz="1300" b="1">
                <a:solidFill>
                  <a:srgbClr val="0F8A72"/>
                </a:solidFill>
                <a:latin typeface="Segoe UI"/>
              </a:rPr>
              <a:t>→  </a:t>
            </a:r>
            <a:r>
              <a:rPr sz="1300" b="1">
                <a:solidFill>
                  <a:srgbClr val="1B3D5E"/>
                </a:solidFill>
                <a:latin typeface="Segoe UI"/>
              </a:rPr>
              <a:t>Route each issue to the scheme that owes it</a:t>
            </a:r>
          </a:p>
        </p:txBody>
      </p:sp>
      <p:sp>
        <p:nvSpPr>
          <p:cNvPr id="28" name="TextBox 27"/>
          <p:cNvSpPr txBox="1"/>
          <p:nvPr/>
        </p:nvSpPr>
        <p:spPr>
          <a:xfrm>
            <a:off x="8046720" y="5093208"/>
            <a:ext cx="3474720" cy="365760"/>
          </a:xfrm>
          <a:prstGeom prst="rect">
            <a:avLst/>
          </a:prstGeom>
          <a:noFill/>
        </p:spPr>
        <p:txBody>
          <a:bodyPr wrap="square" anchor="t" lIns="25400" rIns="25400" tIns="12700" bIns="12700">
            <a:spAutoFit/>
          </a:bodyPr>
          <a:lstStyle/>
          <a:p>
            <a:pPr algn="l">
              <a:spcBef>
                <a:spcPts val="0"/>
              </a:spcBef>
              <a:spcAft>
                <a:spcPts val="200"/>
              </a:spcAft>
            </a:pPr>
            <a:r>
              <a:rPr sz="1300" b="1">
                <a:solidFill>
                  <a:srgbClr val="0F8A72"/>
                </a:solidFill>
                <a:latin typeface="Segoe UI"/>
              </a:rPr>
              <a:t>→  </a:t>
            </a:r>
            <a:r>
              <a:rPr sz="1300" b="1">
                <a:solidFill>
                  <a:srgbClr val="1B3D5E"/>
                </a:solidFill>
                <a:latin typeface="Segoe UI"/>
              </a:rPr>
              <a:t>Generate the letter that unlocks the money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5</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HOW IT WORKS</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One pipeline, eight working stages — no mocks</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Every stage is a live component. Together they turn raw, multilingual, multimodal grievances into ranked, priced, actionable entitlements — with an audit trail.</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05 / 12</a:t>
            </a:r>
          </a:p>
        </p:txBody>
      </p:sp>
      <p:sp>
        <p:nvSpPr>
          <p:cNvPr id="13" name="Rounded Rectangle 12"/>
          <p:cNvSpPr/>
          <p:nvPr/>
        </p:nvSpPr>
        <p:spPr>
          <a:xfrm>
            <a:off x="548640" y="2743200"/>
            <a:ext cx="2587752" cy="12344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743200"/>
            <a:ext cx="2587752" cy="64008"/>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852928"/>
            <a:ext cx="2313432" cy="274320"/>
          </a:xfrm>
          <a:prstGeom prst="rect">
            <a:avLst/>
          </a:prstGeom>
          <a:noFill/>
        </p:spPr>
        <p:txBody>
          <a:bodyPr wrap="square" anchor="t" lIns="25400" rIns="25400" tIns="12700" bIns="12700">
            <a:spAutoFit/>
          </a:bodyPr>
          <a:lstStyle/>
          <a:p>
            <a:pPr algn="l">
              <a:spcBef>
                <a:spcPts val="0"/>
              </a:spcBef>
              <a:spcAft>
                <a:spcPts val="200"/>
              </a:spcAft>
            </a:pPr>
            <a:r>
              <a:rPr sz="1400" b="1">
                <a:solidFill>
                  <a:srgbClr val="7A8999"/>
                </a:solidFill>
                <a:latin typeface="Segoe UI"/>
              </a:rPr>
              <a:t>01</a:t>
            </a:r>
          </a:p>
        </p:txBody>
      </p:sp>
      <p:sp>
        <p:nvSpPr>
          <p:cNvPr id="16" name="TextBox 15"/>
          <p:cNvSpPr txBox="1"/>
          <p:nvPr/>
        </p:nvSpPr>
        <p:spPr>
          <a:xfrm>
            <a:off x="713232" y="3127248"/>
            <a:ext cx="2313432" cy="274320"/>
          </a:xfrm>
          <a:prstGeom prst="rect">
            <a:avLst/>
          </a:prstGeom>
          <a:noFill/>
        </p:spPr>
        <p:txBody>
          <a:bodyPr wrap="square" anchor="t" lIns="25400" rIns="25400" tIns="12700" bIns="12700">
            <a:spAutoFit/>
          </a:bodyPr>
          <a:lstStyle/>
          <a:p>
            <a:pPr algn="l">
              <a:spcBef>
                <a:spcPts val="0"/>
              </a:spcBef>
              <a:spcAft>
                <a:spcPts val="200"/>
              </a:spcAft>
            </a:pPr>
            <a:r>
              <a:rPr sz="1450" b="1">
                <a:solidFill>
                  <a:srgbClr val="0E2A47"/>
                </a:solidFill>
                <a:latin typeface="Segoe UI"/>
              </a:rPr>
              <a:t>Intake</a:t>
            </a:r>
          </a:p>
        </p:txBody>
      </p:sp>
      <p:sp>
        <p:nvSpPr>
          <p:cNvPr id="17" name="TextBox 16"/>
          <p:cNvSpPr txBox="1"/>
          <p:nvPr/>
        </p:nvSpPr>
        <p:spPr>
          <a:xfrm>
            <a:off x="713232" y="3401568"/>
            <a:ext cx="2313432" cy="27432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5E7186"/>
                </a:solidFill>
                <a:latin typeface="Segoe UI"/>
              </a:rPr>
              <a:t>voice · photo · PDF · text</a:t>
            </a:r>
          </a:p>
        </p:txBody>
      </p:sp>
      <p:sp>
        <p:nvSpPr>
          <p:cNvPr id="18" name="Rounded Rectangle 17"/>
          <p:cNvSpPr/>
          <p:nvPr/>
        </p:nvSpPr>
        <p:spPr>
          <a:xfrm>
            <a:off x="713232" y="3675887"/>
            <a:ext cx="1463040" cy="219456"/>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675887"/>
            <a:ext cx="1463040" cy="219456"/>
          </a:xfrm>
          <a:prstGeom prst="rect">
            <a:avLst/>
          </a:prstGeom>
          <a:noFill/>
        </p:spPr>
        <p:txBody>
          <a:bodyPr wrap="square" anchor="ctr" lIns="25400" rIns="25400" tIns="12700" bIns="12700">
            <a:spAutoFit/>
          </a:bodyPr>
          <a:lstStyle/>
          <a:p>
            <a:pPr algn="ctr">
              <a:spcBef>
                <a:spcPts val="0"/>
              </a:spcBef>
              <a:spcAft>
                <a:spcPts val="200"/>
              </a:spcAft>
            </a:pPr>
            <a:r>
              <a:rPr sz="900" b="1">
                <a:solidFill>
                  <a:srgbClr val="1B3D5E"/>
                </a:solidFill>
                <a:latin typeface="Segoe UI"/>
              </a:rPr>
              <a:t>Gemini 2.5-flash</a:t>
            </a:r>
          </a:p>
        </p:txBody>
      </p:sp>
      <p:sp>
        <p:nvSpPr>
          <p:cNvPr id="20" name="Rounded Rectangle 19"/>
          <p:cNvSpPr/>
          <p:nvPr/>
        </p:nvSpPr>
        <p:spPr>
          <a:xfrm>
            <a:off x="3227832" y="2743200"/>
            <a:ext cx="2587752" cy="12344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27832" y="2743200"/>
            <a:ext cx="2587752" cy="64008"/>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92424" y="2852928"/>
            <a:ext cx="2313432" cy="274320"/>
          </a:xfrm>
          <a:prstGeom prst="rect">
            <a:avLst/>
          </a:prstGeom>
          <a:noFill/>
        </p:spPr>
        <p:txBody>
          <a:bodyPr wrap="square" anchor="t" lIns="25400" rIns="25400" tIns="12700" bIns="12700">
            <a:spAutoFit/>
          </a:bodyPr>
          <a:lstStyle/>
          <a:p>
            <a:pPr algn="l">
              <a:spcBef>
                <a:spcPts val="0"/>
              </a:spcBef>
              <a:spcAft>
                <a:spcPts val="200"/>
              </a:spcAft>
            </a:pPr>
            <a:r>
              <a:rPr sz="1400" b="1">
                <a:solidFill>
                  <a:srgbClr val="7A8999"/>
                </a:solidFill>
                <a:latin typeface="Segoe UI"/>
              </a:rPr>
              <a:t>02</a:t>
            </a:r>
          </a:p>
        </p:txBody>
      </p:sp>
      <p:sp>
        <p:nvSpPr>
          <p:cNvPr id="23" name="TextBox 22"/>
          <p:cNvSpPr txBox="1"/>
          <p:nvPr/>
        </p:nvSpPr>
        <p:spPr>
          <a:xfrm>
            <a:off x="3392424" y="3127248"/>
            <a:ext cx="2313432" cy="274320"/>
          </a:xfrm>
          <a:prstGeom prst="rect">
            <a:avLst/>
          </a:prstGeom>
          <a:noFill/>
        </p:spPr>
        <p:txBody>
          <a:bodyPr wrap="square" anchor="t" lIns="25400" rIns="25400" tIns="12700" bIns="12700">
            <a:spAutoFit/>
          </a:bodyPr>
          <a:lstStyle/>
          <a:p>
            <a:pPr algn="l">
              <a:spcBef>
                <a:spcPts val="0"/>
              </a:spcBef>
              <a:spcAft>
                <a:spcPts val="200"/>
              </a:spcAft>
            </a:pPr>
            <a:r>
              <a:rPr sz="1450" b="1">
                <a:solidFill>
                  <a:srgbClr val="0E2A47"/>
                </a:solidFill>
                <a:latin typeface="Segoe UI"/>
              </a:rPr>
              <a:t>Geo-resolution</a:t>
            </a:r>
          </a:p>
        </p:txBody>
      </p:sp>
      <p:sp>
        <p:nvSpPr>
          <p:cNvPr id="24" name="TextBox 23"/>
          <p:cNvSpPr txBox="1"/>
          <p:nvPr/>
        </p:nvSpPr>
        <p:spPr>
          <a:xfrm>
            <a:off x="3392424" y="3401568"/>
            <a:ext cx="2313432" cy="27432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5E7186"/>
                </a:solidFill>
                <a:latin typeface="Segoe UI"/>
              </a:rPr>
              <a:t>ward / village</a:t>
            </a:r>
          </a:p>
        </p:txBody>
      </p:sp>
      <p:sp>
        <p:nvSpPr>
          <p:cNvPr id="25" name="Rounded Rectangle 24"/>
          <p:cNvSpPr/>
          <p:nvPr/>
        </p:nvSpPr>
        <p:spPr>
          <a:xfrm>
            <a:off x="3392424" y="3675887"/>
            <a:ext cx="1463040" cy="219456"/>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92424" y="3675887"/>
            <a:ext cx="1463040" cy="219456"/>
          </a:xfrm>
          <a:prstGeom prst="rect">
            <a:avLst/>
          </a:prstGeom>
          <a:noFill/>
        </p:spPr>
        <p:txBody>
          <a:bodyPr wrap="square" anchor="ctr" lIns="25400" rIns="25400" tIns="12700" bIns="12700">
            <a:spAutoFit/>
          </a:bodyPr>
          <a:lstStyle/>
          <a:p>
            <a:pPr algn="ctr">
              <a:spcBef>
                <a:spcPts val="0"/>
              </a:spcBef>
              <a:spcAft>
                <a:spcPts val="200"/>
              </a:spcAft>
            </a:pPr>
            <a:r>
              <a:rPr sz="900" b="1">
                <a:solidFill>
                  <a:srgbClr val="1B3D5E"/>
                </a:solidFill>
                <a:latin typeface="Segoe UI"/>
              </a:rPr>
              <a:t>Maps</a:t>
            </a:r>
          </a:p>
        </p:txBody>
      </p:sp>
      <p:sp>
        <p:nvSpPr>
          <p:cNvPr id="27" name="Rounded Rectangle 26"/>
          <p:cNvSpPr/>
          <p:nvPr/>
        </p:nvSpPr>
        <p:spPr>
          <a:xfrm>
            <a:off x="5907024" y="2743200"/>
            <a:ext cx="2587752" cy="12344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07024" y="2743200"/>
            <a:ext cx="2587752" cy="64008"/>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71616" y="2852928"/>
            <a:ext cx="2313432" cy="274320"/>
          </a:xfrm>
          <a:prstGeom prst="rect">
            <a:avLst/>
          </a:prstGeom>
          <a:noFill/>
        </p:spPr>
        <p:txBody>
          <a:bodyPr wrap="square" anchor="t" lIns="25400" rIns="25400" tIns="12700" bIns="12700">
            <a:spAutoFit/>
          </a:bodyPr>
          <a:lstStyle/>
          <a:p>
            <a:pPr algn="l">
              <a:spcBef>
                <a:spcPts val="0"/>
              </a:spcBef>
              <a:spcAft>
                <a:spcPts val="200"/>
              </a:spcAft>
            </a:pPr>
            <a:r>
              <a:rPr sz="1400" b="1">
                <a:solidFill>
                  <a:srgbClr val="7A8999"/>
                </a:solidFill>
                <a:latin typeface="Segoe UI"/>
              </a:rPr>
              <a:t>03</a:t>
            </a:r>
          </a:p>
        </p:txBody>
      </p:sp>
      <p:sp>
        <p:nvSpPr>
          <p:cNvPr id="30" name="TextBox 29"/>
          <p:cNvSpPr txBox="1"/>
          <p:nvPr/>
        </p:nvSpPr>
        <p:spPr>
          <a:xfrm>
            <a:off x="6071616" y="3127248"/>
            <a:ext cx="2313432" cy="274320"/>
          </a:xfrm>
          <a:prstGeom prst="rect">
            <a:avLst/>
          </a:prstGeom>
          <a:noFill/>
        </p:spPr>
        <p:txBody>
          <a:bodyPr wrap="square" anchor="t" lIns="25400" rIns="25400" tIns="12700" bIns="12700">
            <a:spAutoFit/>
          </a:bodyPr>
          <a:lstStyle/>
          <a:p>
            <a:pPr algn="l">
              <a:spcBef>
                <a:spcPts val="0"/>
              </a:spcBef>
              <a:spcAft>
                <a:spcPts val="200"/>
              </a:spcAft>
            </a:pPr>
            <a:r>
              <a:rPr sz="1450" b="1">
                <a:solidFill>
                  <a:srgbClr val="0E2A47"/>
                </a:solidFill>
                <a:latin typeface="Segoe UI"/>
              </a:rPr>
              <a:t>Scheme routing</a:t>
            </a:r>
          </a:p>
        </p:txBody>
      </p:sp>
      <p:sp>
        <p:nvSpPr>
          <p:cNvPr id="31" name="TextBox 30"/>
          <p:cNvSpPr txBox="1"/>
          <p:nvPr/>
        </p:nvSpPr>
        <p:spPr>
          <a:xfrm>
            <a:off x="6071616" y="3401568"/>
            <a:ext cx="2313432" cy="27432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5E7186"/>
                </a:solidFill>
                <a:latin typeface="Segoe UI"/>
              </a:rPr>
              <a:t>urban vs rural</a:t>
            </a:r>
          </a:p>
        </p:txBody>
      </p:sp>
      <p:sp>
        <p:nvSpPr>
          <p:cNvPr id="32" name="Rounded Rectangle 31"/>
          <p:cNvSpPr/>
          <p:nvPr/>
        </p:nvSpPr>
        <p:spPr>
          <a:xfrm>
            <a:off x="6071616" y="3675887"/>
            <a:ext cx="1463040" cy="219456"/>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71616" y="3675887"/>
            <a:ext cx="1463040" cy="219456"/>
          </a:xfrm>
          <a:prstGeom prst="rect">
            <a:avLst/>
          </a:prstGeom>
          <a:noFill/>
        </p:spPr>
        <p:txBody>
          <a:bodyPr wrap="square" anchor="ctr" lIns="25400" rIns="25400" tIns="12700" bIns="12700">
            <a:spAutoFit/>
          </a:bodyPr>
          <a:lstStyle/>
          <a:p>
            <a:pPr algn="ctr">
              <a:spcBef>
                <a:spcPts val="0"/>
              </a:spcBef>
              <a:spcAft>
                <a:spcPts val="200"/>
              </a:spcAft>
            </a:pPr>
            <a:r>
              <a:rPr sz="900" b="1">
                <a:solidFill>
                  <a:srgbClr val="1B3D5E"/>
                </a:solidFill>
                <a:latin typeface="Segoe UI"/>
              </a:rPr>
              <a:t>rules</a:t>
            </a:r>
          </a:p>
        </p:txBody>
      </p:sp>
      <p:sp>
        <p:nvSpPr>
          <p:cNvPr id="34" name="Rounded Rectangle 33"/>
          <p:cNvSpPr/>
          <p:nvPr/>
        </p:nvSpPr>
        <p:spPr>
          <a:xfrm>
            <a:off x="8586216" y="2743200"/>
            <a:ext cx="2587752" cy="12344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86216" y="2743200"/>
            <a:ext cx="2587752" cy="64008"/>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50808" y="2852928"/>
            <a:ext cx="2313432" cy="274320"/>
          </a:xfrm>
          <a:prstGeom prst="rect">
            <a:avLst/>
          </a:prstGeom>
          <a:noFill/>
        </p:spPr>
        <p:txBody>
          <a:bodyPr wrap="square" anchor="t" lIns="25400" rIns="25400" tIns="12700" bIns="12700">
            <a:spAutoFit/>
          </a:bodyPr>
          <a:lstStyle/>
          <a:p>
            <a:pPr algn="l">
              <a:spcBef>
                <a:spcPts val="0"/>
              </a:spcBef>
              <a:spcAft>
                <a:spcPts val="200"/>
              </a:spcAft>
            </a:pPr>
            <a:r>
              <a:rPr sz="1400" b="1">
                <a:solidFill>
                  <a:srgbClr val="7A8999"/>
                </a:solidFill>
                <a:latin typeface="Segoe UI"/>
              </a:rPr>
              <a:t>04</a:t>
            </a:r>
          </a:p>
        </p:txBody>
      </p:sp>
      <p:sp>
        <p:nvSpPr>
          <p:cNvPr id="37" name="TextBox 36"/>
          <p:cNvSpPr txBox="1"/>
          <p:nvPr/>
        </p:nvSpPr>
        <p:spPr>
          <a:xfrm>
            <a:off x="8750808" y="3127248"/>
            <a:ext cx="2313432" cy="274320"/>
          </a:xfrm>
          <a:prstGeom prst="rect">
            <a:avLst/>
          </a:prstGeom>
          <a:noFill/>
        </p:spPr>
        <p:txBody>
          <a:bodyPr wrap="square" anchor="t" lIns="25400" rIns="25400" tIns="12700" bIns="12700">
            <a:spAutoFit/>
          </a:bodyPr>
          <a:lstStyle/>
          <a:p>
            <a:pPr algn="l">
              <a:spcBef>
                <a:spcPts val="0"/>
              </a:spcBef>
              <a:spcAft>
                <a:spcPts val="200"/>
              </a:spcAft>
            </a:pPr>
            <a:r>
              <a:rPr sz="1450" b="1">
                <a:solidFill>
                  <a:srgbClr val="0E2A47"/>
                </a:solidFill>
                <a:latin typeface="Segoe UI"/>
              </a:rPr>
              <a:t>Deduplication</a:t>
            </a:r>
          </a:p>
        </p:txBody>
      </p:sp>
      <p:sp>
        <p:nvSpPr>
          <p:cNvPr id="38" name="TextBox 37"/>
          <p:cNvSpPr txBox="1"/>
          <p:nvPr/>
        </p:nvSpPr>
        <p:spPr>
          <a:xfrm>
            <a:off x="8750808" y="3401568"/>
            <a:ext cx="2313432" cy="27432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5E7186"/>
                </a:solidFill>
                <a:latin typeface="Segoe UI"/>
              </a:rPr>
              <a:t>300 → 245 issues</a:t>
            </a:r>
          </a:p>
        </p:txBody>
      </p:sp>
      <p:sp>
        <p:nvSpPr>
          <p:cNvPr id="39" name="Rounded Rectangle 38"/>
          <p:cNvSpPr/>
          <p:nvPr/>
        </p:nvSpPr>
        <p:spPr>
          <a:xfrm>
            <a:off x="8750808" y="3675887"/>
            <a:ext cx="1463040" cy="219456"/>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750808" y="3675887"/>
            <a:ext cx="1463040" cy="219456"/>
          </a:xfrm>
          <a:prstGeom prst="rect">
            <a:avLst/>
          </a:prstGeom>
          <a:noFill/>
        </p:spPr>
        <p:txBody>
          <a:bodyPr wrap="square" anchor="ctr" lIns="25400" rIns="25400" tIns="12700" bIns="12700">
            <a:spAutoFit/>
          </a:bodyPr>
          <a:lstStyle/>
          <a:p>
            <a:pPr algn="ctr">
              <a:spcBef>
                <a:spcPts val="0"/>
              </a:spcBef>
              <a:spcAft>
                <a:spcPts val="200"/>
              </a:spcAft>
            </a:pPr>
            <a:r>
              <a:rPr sz="900" b="1">
                <a:solidFill>
                  <a:srgbClr val="1B3D5E"/>
                </a:solidFill>
                <a:latin typeface="Segoe UI"/>
              </a:rPr>
              <a:t>cross-lang</a:t>
            </a:r>
          </a:p>
        </p:txBody>
      </p:sp>
      <p:sp>
        <p:nvSpPr>
          <p:cNvPr id="41" name="Rounded Rectangle 40"/>
          <p:cNvSpPr/>
          <p:nvPr/>
        </p:nvSpPr>
        <p:spPr>
          <a:xfrm>
            <a:off x="548640" y="4297680"/>
            <a:ext cx="2587752" cy="12344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4297680"/>
            <a:ext cx="2587752" cy="64008"/>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3232" y="4407408"/>
            <a:ext cx="2313432" cy="274320"/>
          </a:xfrm>
          <a:prstGeom prst="rect">
            <a:avLst/>
          </a:prstGeom>
          <a:noFill/>
        </p:spPr>
        <p:txBody>
          <a:bodyPr wrap="square" anchor="t" lIns="25400" rIns="25400" tIns="12700" bIns="12700">
            <a:spAutoFit/>
          </a:bodyPr>
          <a:lstStyle/>
          <a:p>
            <a:pPr algn="l">
              <a:spcBef>
                <a:spcPts val="0"/>
              </a:spcBef>
              <a:spcAft>
                <a:spcPts val="200"/>
              </a:spcAft>
            </a:pPr>
            <a:r>
              <a:rPr sz="1400" b="1">
                <a:solidFill>
                  <a:srgbClr val="7A8999"/>
                </a:solidFill>
                <a:latin typeface="Segoe UI"/>
              </a:rPr>
              <a:t>05</a:t>
            </a:r>
          </a:p>
        </p:txBody>
      </p:sp>
      <p:sp>
        <p:nvSpPr>
          <p:cNvPr id="44" name="TextBox 43"/>
          <p:cNvSpPr txBox="1"/>
          <p:nvPr/>
        </p:nvSpPr>
        <p:spPr>
          <a:xfrm>
            <a:off x="713232" y="4681728"/>
            <a:ext cx="2313432" cy="274320"/>
          </a:xfrm>
          <a:prstGeom prst="rect">
            <a:avLst/>
          </a:prstGeom>
          <a:noFill/>
        </p:spPr>
        <p:txBody>
          <a:bodyPr wrap="square" anchor="t" lIns="25400" rIns="25400" tIns="12700" bIns="12700">
            <a:spAutoFit/>
          </a:bodyPr>
          <a:lstStyle/>
          <a:p>
            <a:pPr algn="l">
              <a:spcBef>
                <a:spcPts val="0"/>
              </a:spcBef>
              <a:spcAft>
                <a:spcPts val="200"/>
              </a:spcAft>
            </a:pPr>
            <a:r>
              <a:rPr sz="1450" b="1">
                <a:solidFill>
                  <a:srgbClr val="0E2A47"/>
                </a:solidFill>
                <a:latin typeface="Segoe UI"/>
              </a:rPr>
              <a:t>Gap-math</a:t>
            </a:r>
          </a:p>
        </p:txBody>
      </p:sp>
      <p:sp>
        <p:nvSpPr>
          <p:cNvPr id="45" name="TextBox 44"/>
          <p:cNvSpPr txBox="1"/>
          <p:nvPr/>
        </p:nvSpPr>
        <p:spPr>
          <a:xfrm>
            <a:off x="713232" y="4956048"/>
            <a:ext cx="2313432" cy="27432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5E7186"/>
                </a:solidFill>
                <a:latin typeface="Segoe UI"/>
              </a:rPr>
              <a:t>₹ owed vs delivered</a:t>
            </a:r>
          </a:p>
        </p:txBody>
      </p:sp>
      <p:sp>
        <p:nvSpPr>
          <p:cNvPr id="46" name="Rounded Rectangle 45"/>
          <p:cNvSpPr/>
          <p:nvPr/>
        </p:nvSpPr>
        <p:spPr>
          <a:xfrm>
            <a:off x="713232" y="5230368"/>
            <a:ext cx="1463040" cy="219456"/>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3232" y="5230368"/>
            <a:ext cx="1463040" cy="219456"/>
          </a:xfrm>
          <a:prstGeom prst="rect">
            <a:avLst/>
          </a:prstGeom>
          <a:noFill/>
        </p:spPr>
        <p:txBody>
          <a:bodyPr wrap="square" anchor="ctr" lIns="25400" rIns="25400" tIns="12700" bIns="12700">
            <a:spAutoFit/>
          </a:bodyPr>
          <a:lstStyle/>
          <a:p>
            <a:pPr algn="ctr">
              <a:spcBef>
                <a:spcPts val="0"/>
              </a:spcBef>
              <a:spcAft>
                <a:spcPts val="200"/>
              </a:spcAft>
            </a:pPr>
            <a:r>
              <a:rPr sz="900" b="1">
                <a:solidFill>
                  <a:srgbClr val="1B3D5E"/>
                </a:solidFill>
                <a:latin typeface="Segoe UI"/>
              </a:rPr>
              <a:t>BigQuery</a:t>
            </a:r>
          </a:p>
        </p:txBody>
      </p:sp>
      <p:sp>
        <p:nvSpPr>
          <p:cNvPr id="48" name="Rounded Rectangle 47"/>
          <p:cNvSpPr/>
          <p:nvPr/>
        </p:nvSpPr>
        <p:spPr>
          <a:xfrm>
            <a:off x="3227832" y="4297680"/>
            <a:ext cx="2587752" cy="12344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227832" y="4297680"/>
            <a:ext cx="2587752" cy="64008"/>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92424" y="4407408"/>
            <a:ext cx="2313432" cy="274320"/>
          </a:xfrm>
          <a:prstGeom prst="rect">
            <a:avLst/>
          </a:prstGeom>
          <a:noFill/>
        </p:spPr>
        <p:txBody>
          <a:bodyPr wrap="square" anchor="t" lIns="25400" rIns="25400" tIns="12700" bIns="12700">
            <a:spAutoFit/>
          </a:bodyPr>
          <a:lstStyle/>
          <a:p>
            <a:pPr algn="l">
              <a:spcBef>
                <a:spcPts val="0"/>
              </a:spcBef>
              <a:spcAft>
                <a:spcPts val="200"/>
              </a:spcAft>
            </a:pPr>
            <a:r>
              <a:rPr sz="1400" b="1">
                <a:solidFill>
                  <a:srgbClr val="7A8999"/>
                </a:solidFill>
                <a:latin typeface="Segoe UI"/>
              </a:rPr>
              <a:t>06</a:t>
            </a:r>
          </a:p>
        </p:txBody>
      </p:sp>
      <p:sp>
        <p:nvSpPr>
          <p:cNvPr id="51" name="TextBox 50"/>
          <p:cNvSpPr txBox="1"/>
          <p:nvPr/>
        </p:nvSpPr>
        <p:spPr>
          <a:xfrm>
            <a:off x="3392424" y="4681728"/>
            <a:ext cx="2313432" cy="274320"/>
          </a:xfrm>
          <a:prstGeom prst="rect">
            <a:avLst/>
          </a:prstGeom>
          <a:noFill/>
        </p:spPr>
        <p:txBody>
          <a:bodyPr wrap="square" anchor="t" lIns="25400" rIns="25400" tIns="12700" bIns="12700">
            <a:spAutoFit/>
          </a:bodyPr>
          <a:lstStyle/>
          <a:p>
            <a:pPr algn="l">
              <a:spcBef>
                <a:spcPts val="0"/>
              </a:spcBef>
              <a:spcAft>
                <a:spcPts val="200"/>
              </a:spcAft>
            </a:pPr>
            <a:r>
              <a:rPr sz="1450" b="1">
                <a:solidFill>
                  <a:srgbClr val="0E2A47"/>
                </a:solidFill>
                <a:latin typeface="Segoe UI"/>
              </a:rPr>
              <a:t>Priority scoring</a:t>
            </a:r>
          </a:p>
        </p:txBody>
      </p:sp>
      <p:sp>
        <p:nvSpPr>
          <p:cNvPr id="52" name="TextBox 51"/>
          <p:cNvSpPr txBox="1"/>
          <p:nvPr/>
        </p:nvSpPr>
        <p:spPr>
          <a:xfrm>
            <a:off x="3392424" y="4956048"/>
            <a:ext cx="2313432" cy="27432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5E7186"/>
                </a:solidFill>
                <a:latin typeface="Segoe UI"/>
              </a:rPr>
              <a:t>transparent weights</a:t>
            </a:r>
          </a:p>
        </p:txBody>
      </p:sp>
      <p:sp>
        <p:nvSpPr>
          <p:cNvPr id="53" name="Rounded Rectangle 52"/>
          <p:cNvSpPr/>
          <p:nvPr/>
        </p:nvSpPr>
        <p:spPr>
          <a:xfrm>
            <a:off x="3392424" y="5230368"/>
            <a:ext cx="1463040" cy="219456"/>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92424" y="5230368"/>
            <a:ext cx="1463040" cy="219456"/>
          </a:xfrm>
          <a:prstGeom prst="rect">
            <a:avLst/>
          </a:prstGeom>
          <a:noFill/>
        </p:spPr>
        <p:txBody>
          <a:bodyPr wrap="square" anchor="ctr" lIns="25400" rIns="25400" tIns="12700" bIns="12700">
            <a:spAutoFit/>
          </a:bodyPr>
          <a:lstStyle/>
          <a:p>
            <a:pPr algn="ctr">
              <a:spcBef>
                <a:spcPts val="0"/>
              </a:spcBef>
              <a:spcAft>
                <a:spcPts val="200"/>
              </a:spcAft>
            </a:pPr>
            <a:r>
              <a:rPr sz="900" b="1">
                <a:solidFill>
                  <a:srgbClr val="1B3D5E"/>
                </a:solidFill>
                <a:latin typeface="Segoe UI"/>
              </a:rPr>
              <a:t>scoring</a:t>
            </a:r>
          </a:p>
        </p:txBody>
      </p:sp>
      <p:sp>
        <p:nvSpPr>
          <p:cNvPr id="55" name="Rounded Rectangle 54"/>
          <p:cNvSpPr/>
          <p:nvPr/>
        </p:nvSpPr>
        <p:spPr>
          <a:xfrm>
            <a:off x="5907024" y="4297680"/>
            <a:ext cx="2587752" cy="12344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907024" y="4297680"/>
            <a:ext cx="2587752" cy="64008"/>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071616" y="4407408"/>
            <a:ext cx="2313432" cy="274320"/>
          </a:xfrm>
          <a:prstGeom prst="rect">
            <a:avLst/>
          </a:prstGeom>
          <a:noFill/>
        </p:spPr>
        <p:txBody>
          <a:bodyPr wrap="square" anchor="t" lIns="25400" rIns="25400" tIns="12700" bIns="12700">
            <a:spAutoFit/>
          </a:bodyPr>
          <a:lstStyle/>
          <a:p>
            <a:pPr algn="l">
              <a:spcBef>
                <a:spcPts val="0"/>
              </a:spcBef>
              <a:spcAft>
                <a:spcPts val="200"/>
              </a:spcAft>
            </a:pPr>
            <a:r>
              <a:rPr sz="1400" b="1">
                <a:solidFill>
                  <a:srgbClr val="7A8999"/>
                </a:solidFill>
                <a:latin typeface="Segoe UI"/>
              </a:rPr>
              <a:t>07</a:t>
            </a:r>
          </a:p>
        </p:txBody>
      </p:sp>
      <p:sp>
        <p:nvSpPr>
          <p:cNvPr id="58" name="TextBox 57"/>
          <p:cNvSpPr txBox="1"/>
          <p:nvPr/>
        </p:nvSpPr>
        <p:spPr>
          <a:xfrm>
            <a:off x="6071616" y="4681728"/>
            <a:ext cx="2313432" cy="274320"/>
          </a:xfrm>
          <a:prstGeom prst="rect">
            <a:avLst/>
          </a:prstGeom>
          <a:noFill/>
        </p:spPr>
        <p:txBody>
          <a:bodyPr wrap="square" anchor="t" lIns="25400" rIns="25400" tIns="12700" bIns="12700">
            <a:spAutoFit/>
          </a:bodyPr>
          <a:lstStyle/>
          <a:p>
            <a:pPr algn="l">
              <a:spcBef>
                <a:spcPts val="0"/>
              </a:spcBef>
              <a:spcAft>
                <a:spcPts val="200"/>
              </a:spcAft>
            </a:pPr>
            <a:r>
              <a:rPr sz="1450" b="1">
                <a:solidFill>
                  <a:srgbClr val="0E2A47"/>
                </a:solidFill>
                <a:latin typeface="Segoe UI"/>
              </a:rPr>
              <a:t>Two-track action</a:t>
            </a:r>
          </a:p>
        </p:txBody>
      </p:sp>
      <p:sp>
        <p:nvSpPr>
          <p:cNvPr id="59" name="TextBox 58"/>
          <p:cNvSpPr txBox="1"/>
          <p:nvPr/>
        </p:nvSpPr>
        <p:spPr>
          <a:xfrm>
            <a:off x="6071616" y="4956048"/>
            <a:ext cx="2313432" cy="27432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5E7186"/>
                </a:solidFill>
                <a:latin typeface="Segoe UI"/>
              </a:rPr>
              <a:t>letter + ₹5cr plan</a:t>
            </a:r>
          </a:p>
        </p:txBody>
      </p:sp>
      <p:sp>
        <p:nvSpPr>
          <p:cNvPr id="60" name="Rounded Rectangle 59"/>
          <p:cNvSpPr/>
          <p:nvPr/>
        </p:nvSpPr>
        <p:spPr>
          <a:xfrm>
            <a:off x="6071616" y="5230368"/>
            <a:ext cx="1463040" cy="219456"/>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071616" y="5230368"/>
            <a:ext cx="1463040" cy="219456"/>
          </a:xfrm>
          <a:prstGeom prst="rect">
            <a:avLst/>
          </a:prstGeom>
          <a:noFill/>
        </p:spPr>
        <p:txBody>
          <a:bodyPr wrap="square" anchor="ctr" lIns="25400" rIns="25400" tIns="12700" bIns="12700">
            <a:spAutoFit/>
          </a:bodyPr>
          <a:lstStyle/>
          <a:p>
            <a:pPr algn="ctr">
              <a:spcBef>
                <a:spcPts val="0"/>
              </a:spcBef>
              <a:spcAft>
                <a:spcPts val="200"/>
              </a:spcAft>
            </a:pPr>
            <a:r>
              <a:rPr sz="900" b="1">
                <a:solidFill>
                  <a:srgbClr val="1B3D5E"/>
                </a:solidFill>
                <a:latin typeface="Segoe UI"/>
              </a:rPr>
              <a:t>OR-Tools</a:t>
            </a:r>
          </a:p>
        </p:txBody>
      </p:sp>
      <p:sp>
        <p:nvSpPr>
          <p:cNvPr id="62" name="Rounded Rectangle 61"/>
          <p:cNvSpPr/>
          <p:nvPr/>
        </p:nvSpPr>
        <p:spPr>
          <a:xfrm>
            <a:off x="8586216" y="4297680"/>
            <a:ext cx="2587752" cy="12344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586216" y="4297680"/>
            <a:ext cx="2587752" cy="64008"/>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750808" y="4407408"/>
            <a:ext cx="2313432" cy="274320"/>
          </a:xfrm>
          <a:prstGeom prst="rect">
            <a:avLst/>
          </a:prstGeom>
          <a:noFill/>
        </p:spPr>
        <p:txBody>
          <a:bodyPr wrap="square" anchor="t" lIns="25400" rIns="25400" tIns="12700" bIns="12700">
            <a:spAutoFit/>
          </a:bodyPr>
          <a:lstStyle/>
          <a:p>
            <a:pPr algn="l">
              <a:spcBef>
                <a:spcPts val="0"/>
              </a:spcBef>
              <a:spcAft>
                <a:spcPts val="200"/>
              </a:spcAft>
            </a:pPr>
            <a:r>
              <a:rPr sz="1400" b="1">
                <a:solidFill>
                  <a:srgbClr val="7A8999"/>
                </a:solidFill>
                <a:latin typeface="Segoe UI"/>
              </a:rPr>
              <a:t>08</a:t>
            </a:r>
          </a:p>
        </p:txBody>
      </p:sp>
      <p:sp>
        <p:nvSpPr>
          <p:cNvPr id="65" name="TextBox 64"/>
          <p:cNvSpPr txBox="1"/>
          <p:nvPr/>
        </p:nvSpPr>
        <p:spPr>
          <a:xfrm>
            <a:off x="8750808" y="4681728"/>
            <a:ext cx="2313432" cy="274320"/>
          </a:xfrm>
          <a:prstGeom prst="rect">
            <a:avLst/>
          </a:prstGeom>
          <a:noFill/>
        </p:spPr>
        <p:txBody>
          <a:bodyPr wrap="square" anchor="t" lIns="25400" rIns="25400" tIns="12700" bIns="12700">
            <a:spAutoFit/>
          </a:bodyPr>
          <a:lstStyle/>
          <a:p>
            <a:pPr algn="l">
              <a:spcBef>
                <a:spcPts val="0"/>
              </a:spcBef>
              <a:spcAft>
                <a:spcPts val="200"/>
              </a:spcAft>
            </a:pPr>
            <a:r>
              <a:rPr sz="1450" b="1">
                <a:solidFill>
                  <a:srgbClr val="0E2A47"/>
                </a:solidFill>
                <a:latin typeface="Segoe UI"/>
              </a:rPr>
              <a:t>Close-the-loop</a:t>
            </a:r>
          </a:p>
        </p:txBody>
      </p:sp>
      <p:sp>
        <p:nvSpPr>
          <p:cNvPr id="66" name="TextBox 65"/>
          <p:cNvSpPr txBox="1"/>
          <p:nvPr/>
        </p:nvSpPr>
        <p:spPr>
          <a:xfrm>
            <a:off x="8750808" y="4956048"/>
            <a:ext cx="2313432" cy="27432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5E7186"/>
                </a:solidFill>
                <a:latin typeface="Segoe UI"/>
              </a:rPr>
              <a:t>notify citizen</a:t>
            </a:r>
          </a:p>
        </p:txBody>
      </p:sp>
      <p:sp>
        <p:nvSpPr>
          <p:cNvPr id="67" name="Rounded Rectangle 66"/>
          <p:cNvSpPr/>
          <p:nvPr/>
        </p:nvSpPr>
        <p:spPr>
          <a:xfrm>
            <a:off x="8750808" y="5230368"/>
            <a:ext cx="1463040" cy="219456"/>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750808" y="5230368"/>
            <a:ext cx="1463040" cy="219456"/>
          </a:xfrm>
          <a:prstGeom prst="rect">
            <a:avLst/>
          </a:prstGeom>
          <a:noFill/>
        </p:spPr>
        <p:txBody>
          <a:bodyPr wrap="square" anchor="ctr" lIns="25400" rIns="25400" tIns="12700" bIns="12700">
            <a:spAutoFit/>
          </a:bodyPr>
          <a:lstStyle/>
          <a:p>
            <a:pPr algn="ctr">
              <a:spcBef>
                <a:spcPts val="0"/>
              </a:spcBef>
              <a:spcAft>
                <a:spcPts val="200"/>
              </a:spcAft>
            </a:pPr>
            <a:r>
              <a:rPr sz="900" b="1">
                <a:solidFill>
                  <a:srgbClr val="1B3D5E"/>
                </a:solidFill>
                <a:latin typeface="Segoe UI"/>
              </a:rPr>
              <a:t>Telegram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6</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MULTIMODAL INTAKE + DEDUP</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Any language, any format — collapsed into one truth</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Gemini 2.5-flash transcribes, translates and extracts each issue, then geo-resolves it to a Coimbatore ward or village. Deduplication is cross-language and campaign-aware.</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06 / 12</a:t>
            </a:r>
          </a:p>
        </p:txBody>
      </p:sp>
      <p:sp>
        <p:nvSpPr>
          <p:cNvPr id="13" name="Rounded Rectangle 12"/>
          <p:cNvSpPr/>
          <p:nvPr/>
        </p:nvSpPr>
        <p:spPr>
          <a:xfrm>
            <a:off x="822960" y="2926080"/>
            <a:ext cx="2286000" cy="5486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2926080"/>
            <a:ext cx="54864" cy="548640"/>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971800"/>
            <a:ext cx="2103120" cy="502920"/>
          </a:xfrm>
          <a:prstGeom prst="rect">
            <a:avLst/>
          </a:prstGeom>
          <a:noFill/>
        </p:spPr>
        <p:txBody>
          <a:bodyPr wrap="square" anchor="ctr" lIns="25400" rIns="25400" tIns="12700" bIns="12700">
            <a:spAutoFit/>
          </a:bodyPr>
          <a:lstStyle/>
          <a:p>
            <a:pPr algn="l">
              <a:spcBef>
                <a:spcPts val="0"/>
              </a:spcBef>
              <a:spcAft>
                <a:spcPts val="200"/>
              </a:spcAft>
            </a:pPr>
            <a:r>
              <a:rPr sz="1250" b="1">
                <a:solidFill>
                  <a:srgbClr val="0E2A47"/>
                </a:solidFill>
                <a:latin typeface="Segoe UI"/>
              </a:rPr>
              <a:t>Voice  ·  Tamil</a:t>
            </a:r>
          </a:p>
          <a:p>
            <a:pPr algn="l">
              <a:spcBef>
                <a:spcPts val="0"/>
              </a:spcBef>
              <a:spcAft>
                <a:spcPts val="200"/>
              </a:spcAft>
            </a:pPr>
            <a:r>
              <a:rPr sz="1000" b="0" i="1">
                <a:solidFill>
                  <a:srgbClr val="5E7186"/>
                </a:solidFill>
                <a:latin typeface="Segoe UI"/>
              </a:rPr>
              <a:t>“no water for 3 days”</a:t>
            </a:r>
          </a:p>
        </p:txBody>
      </p:sp>
      <p:sp>
        <p:nvSpPr>
          <p:cNvPr id="16" name="Rounded Rectangle 15"/>
          <p:cNvSpPr/>
          <p:nvPr/>
        </p:nvSpPr>
        <p:spPr>
          <a:xfrm>
            <a:off x="822960" y="3611880"/>
            <a:ext cx="2286000" cy="5486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3611880"/>
            <a:ext cx="54864" cy="548640"/>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657600"/>
            <a:ext cx="2103120" cy="502920"/>
          </a:xfrm>
          <a:prstGeom prst="rect">
            <a:avLst/>
          </a:prstGeom>
          <a:noFill/>
        </p:spPr>
        <p:txBody>
          <a:bodyPr wrap="square" anchor="ctr" lIns="25400" rIns="25400" tIns="12700" bIns="12700">
            <a:spAutoFit/>
          </a:bodyPr>
          <a:lstStyle/>
          <a:p>
            <a:pPr algn="l">
              <a:spcBef>
                <a:spcPts val="0"/>
              </a:spcBef>
              <a:spcAft>
                <a:spcPts val="200"/>
              </a:spcAft>
            </a:pPr>
            <a:r>
              <a:rPr sz="1250" b="1">
                <a:solidFill>
                  <a:srgbClr val="0E2A47"/>
                </a:solidFill>
                <a:latin typeface="Segoe UI"/>
              </a:rPr>
              <a:t>Photo  ·  English</a:t>
            </a:r>
          </a:p>
          <a:p>
            <a:pPr algn="l">
              <a:spcBef>
                <a:spcPts val="0"/>
              </a:spcBef>
              <a:spcAft>
                <a:spcPts val="200"/>
              </a:spcAft>
            </a:pPr>
            <a:r>
              <a:rPr sz="1000" b="0" i="1">
                <a:solidFill>
                  <a:srgbClr val="5E7186"/>
                </a:solidFill>
                <a:latin typeface="Segoe UI"/>
              </a:rPr>
              <a:t>“no water for 3 days”</a:t>
            </a:r>
          </a:p>
        </p:txBody>
      </p:sp>
      <p:sp>
        <p:nvSpPr>
          <p:cNvPr id="19" name="Rounded Rectangle 18"/>
          <p:cNvSpPr/>
          <p:nvPr/>
        </p:nvSpPr>
        <p:spPr>
          <a:xfrm>
            <a:off x="822960" y="4297680"/>
            <a:ext cx="2286000" cy="5486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4297680"/>
            <a:ext cx="54864" cy="548640"/>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343400"/>
            <a:ext cx="2103120" cy="502920"/>
          </a:xfrm>
          <a:prstGeom prst="rect">
            <a:avLst/>
          </a:prstGeom>
          <a:noFill/>
        </p:spPr>
        <p:txBody>
          <a:bodyPr wrap="square" anchor="ctr" lIns="25400" rIns="25400" tIns="12700" bIns="12700">
            <a:spAutoFit/>
          </a:bodyPr>
          <a:lstStyle/>
          <a:p>
            <a:pPr algn="l">
              <a:spcBef>
                <a:spcPts val="0"/>
              </a:spcBef>
              <a:spcAft>
                <a:spcPts val="200"/>
              </a:spcAft>
            </a:pPr>
            <a:r>
              <a:rPr sz="1250" b="1">
                <a:solidFill>
                  <a:srgbClr val="0E2A47"/>
                </a:solidFill>
                <a:latin typeface="Segoe UI"/>
              </a:rPr>
              <a:t>PDF petition  ·  Hindi</a:t>
            </a:r>
          </a:p>
          <a:p>
            <a:pPr algn="l">
              <a:spcBef>
                <a:spcPts val="0"/>
              </a:spcBef>
              <a:spcAft>
                <a:spcPts val="200"/>
              </a:spcAft>
            </a:pPr>
            <a:r>
              <a:rPr sz="1000" b="0" i="1">
                <a:solidFill>
                  <a:srgbClr val="5E7186"/>
                </a:solidFill>
                <a:latin typeface="Segoe UI"/>
              </a:rPr>
              <a:t>“no water for 3 days”</a:t>
            </a:r>
          </a:p>
        </p:txBody>
      </p:sp>
      <p:sp>
        <p:nvSpPr>
          <p:cNvPr id="22" name="Rounded Rectangle 21"/>
          <p:cNvSpPr/>
          <p:nvPr/>
        </p:nvSpPr>
        <p:spPr>
          <a:xfrm>
            <a:off x="4114800" y="3063240"/>
            <a:ext cx="2743200" cy="1234440"/>
          </a:xfrm>
          <a:prstGeom prst="roundRect">
            <a:avLst>
              <a:gd name="adj" fmla="val 6000"/>
            </a:avLst>
          </a:prstGeom>
          <a:solidFill>
            <a:srgbClr val="E7F3F0"/>
          </a:solidFill>
          <a:ln w="16510">
            <a:solidFill>
              <a:srgbClr val="0F8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0" y="3154680"/>
            <a:ext cx="2468880" cy="1097280"/>
          </a:xfrm>
          <a:prstGeom prst="rect">
            <a:avLst/>
          </a:prstGeom>
          <a:noFill/>
        </p:spPr>
        <p:txBody>
          <a:bodyPr wrap="square" anchor="t" lIns="25400" rIns="25400" tIns="12700" bIns="12700">
            <a:spAutoFit/>
          </a:bodyPr>
          <a:lstStyle/>
          <a:p>
            <a:pPr algn="l">
              <a:spcBef>
                <a:spcPts val="0"/>
              </a:spcBef>
              <a:spcAft>
                <a:spcPts val="400"/>
              </a:spcAft>
            </a:pPr>
            <a:r>
              <a:rPr sz="1000" b="1">
                <a:solidFill>
                  <a:srgbClr val="0A6656"/>
                </a:solidFill>
                <a:latin typeface="Segoe UI"/>
              </a:rPr>
              <a:t>UNIFIED ISSUE</a:t>
            </a:r>
          </a:p>
          <a:p>
            <a:pPr algn="l">
              <a:spcBef>
                <a:spcPts val="0"/>
              </a:spcBef>
              <a:spcAft>
                <a:spcPts val="400"/>
              </a:spcAft>
            </a:pPr>
            <a:r>
              <a:rPr sz="1600" b="1">
                <a:solidFill>
                  <a:srgbClr val="0E2A47"/>
                </a:solidFill>
                <a:latin typeface="Segoe UI"/>
              </a:rPr>
              <a:t>Ward 42  ·  water supply</a:t>
            </a:r>
          </a:p>
          <a:p>
            <a:pPr algn="l">
              <a:spcBef>
                <a:spcPts val="0"/>
              </a:spcBef>
              <a:spcAft>
                <a:spcPts val="400"/>
              </a:spcAft>
            </a:pPr>
            <a:r>
              <a:rPr sz="1200" b="0">
                <a:solidFill>
                  <a:srgbClr val="5E7186"/>
                </a:solidFill>
                <a:latin typeface="Segoe UI"/>
              </a:rPr>
              <a:t>1 issue  ·  3 reports  ·  3 languages</a:t>
            </a:r>
          </a:p>
          <a:p>
            <a:pPr algn="l">
              <a:spcBef>
                <a:spcPts val="0"/>
              </a:spcBef>
              <a:spcAft>
                <a:spcPts val="400"/>
              </a:spcAft>
            </a:pPr>
            <a:r>
              <a:rPr sz="1050" b="1">
                <a:solidFill>
                  <a:srgbClr val="0A6656"/>
                </a:solidFill>
                <a:latin typeface="Segoe UI"/>
              </a:rPr>
              <a:t>route: AMRUT (urban water)</a:t>
            </a:r>
          </a:p>
        </p:txBody>
      </p:sp>
      <p:sp>
        <p:nvSpPr>
          <p:cNvPr id="24" name="Rounded Rectangle 23"/>
          <p:cNvSpPr/>
          <p:nvPr/>
        </p:nvSpPr>
        <p:spPr>
          <a:xfrm>
            <a:off x="7680960" y="3017520"/>
            <a:ext cx="3566160" cy="109728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9560" y="3108960"/>
            <a:ext cx="3200400" cy="548640"/>
          </a:xfrm>
          <a:prstGeom prst="rect">
            <a:avLst/>
          </a:prstGeom>
          <a:noFill/>
        </p:spPr>
        <p:txBody>
          <a:bodyPr wrap="square" anchor="t" lIns="25400" rIns="25400" tIns="12700" bIns="12700">
            <a:spAutoFit/>
          </a:bodyPr>
          <a:lstStyle/>
          <a:p>
            <a:pPr algn="l">
              <a:spcBef>
                <a:spcPts val="0"/>
              </a:spcBef>
              <a:spcAft>
                <a:spcPts val="200"/>
              </a:spcAft>
            </a:pPr>
            <a:r>
              <a:rPr sz="3200" b="1">
                <a:solidFill>
                  <a:srgbClr val="0E2A47"/>
                </a:solidFill>
                <a:latin typeface="Segoe UI"/>
              </a:rPr>
              <a:t>300 → 245</a:t>
            </a:r>
          </a:p>
        </p:txBody>
      </p:sp>
      <p:sp>
        <p:nvSpPr>
          <p:cNvPr id="26" name="TextBox 25"/>
          <p:cNvSpPr txBox="1"/>
          <p:nvPr/>
        </p:nvSpPr>
        <p:spPr>
          <a:xfrm>
            <a:off x="7909560" y="3675887"/>
            <a:ext cx="3200400" cy="457200"/>
          </a:xfrm>
          <a:prstGeom prst="rect">
            <a:avLst/>
          </a:prstGeom>
          <a:noFill/>
        </p:spPr>
        <p:txBody>
          <a:bodyPr wrap="square" anchor="t" lIns="25400" rIns="25400" tIns="12700" bIns="12700">
            <a:spAutoFit/>
          </a:bodyPr>
          <a:lstStyle/>
          <a:p>
            <a:pPr algn="l">
              <a:spcBef>
                <a:spcPts val="0"/>
              </a:spcBef>
              <a:spcAft>
                <a:spcPts val="200"/>
              </a:spcAft>
            </a:pPr>
            <a:r>
              <a:rPr sz="1200" b="0">
                <a:solidFill>
                  <a:srgbClr val="5E7186"/>
                </a:solidFill>
                <a:latin typeface="Segoe UI"/>
              </a:rPr>
              <a:t>raw complaints collapsed into unified issues, across Tamil / Hindi / English.</a:t>
            </a:r>
          </a:p>
        </p:txBody>
      </p:sp>
      <p:sp>
        <p:nvSpPr>
          <p:cNvPr id="27" name="Rounded Rectangle 26"/>
          <p:cNvSpPr/>
          <p:nvPr/>
        </p:nvSpPr>
        <p:spPr>
          <a:xfrm>
            <a:off x="7680960" y="4343400"/>
            <a:ext cx="3566160" cy="1097280"/>
          </a:xfrm>
          <a:prstGeom prst="roundRect">
            <a:avLst>
              <a:gd name="adj" fmla="val 6000"/>
            </a:avLst>
          </a:prstGeom>
          <a:solidFill>
            <a:srgbClr val="F7EDDF"/>
          </a:solidFill>
          <a:ln w="15240">
            <a:solidFill>
              <a:srgbClr val="DCB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9560" y="4434840"/>
            <a:ext cx="3200400" cy="320040"/>
          </a:xfrm>
          <a:prstGeom prst="rect">
            <a:avLst/>
          </a:prstGeom>
          <a:noFill/>
        </p:spPr>
        <p:txBody>
          <a:bodyPr wrap="square" anchor="t" lIns="25400" rIns="25400" tIns="12700" bIns="12700">
            <a:spAutoFit/>
          </a:bodyPr>
          <a:lstStyle/>
          <a:p>
            <a:pPr algn="l">
              <a:spcBef>
                <a:spcPts val="0"/>
              </a:spcBef>
              <a:spcAft>
                <a:spcPts val="200"/>
              </a:spcAft>
            </a:pPr>
            <a:r>
              <a:rPr sz="1400" b="1">
                <a:solidFill>
                  <a:srgbClr val="C6851B"/>
                </a:solidFill>
                <a:latin typeface="Segoe UI"/>
              </a:rPr>
              <a:t>⚠  Coordinated-campaign flag</a:t>
            </a:r>
          </a:p>
        </p:txBody>
      </p:sp>
      <p:sp>
        <p:nvSpPr>
          <p:cNvPr id="29" name="TextBox 28"/>
          <p:cNvSpPr txBox="1"/>
          <p:nvPr/>
        </p:nvSpPr>
        <p:spPr>
          <a:xfrm>
            <a:off x="7909560" y="4800600"/>
            <a:ext cx="3200400" cy="594360"/>
          </a:xfrm>
          <a:prstGeom prst="rect">
            <a:avLst/>
          </a:prstGeom>
          <a:noFill/>
        </p:spPr>
        <p:txBody>
          <a:bodyPr wrap="square" anchor="t" lIns="25400" rIns="25400" tIns="12700" bIns="12700">
            <a:spAutoFit/>
          </a:bodyPr>
          <a:lstStyle/>
          <a:p>
            <a:pPr algn="l">
              <a:spcBef>
                <a:spcPts val="0"/>
              </a:spcBef>
              <a:spcAft>
                <a:spcPts val="200"/>
              </a:spcAft>
            </a:pPr>
            <a:r>
              <a:rPr sz="1200" b="0">
                <a:solidFill>
                  <a:srgbClr val="5E7186"/>
                </a:solidFill>
                <a:latin typeface="Segoe UI"/>
              </a:rPr>
              <a:t>Suspiciously identical bursts are flagged so they can’t game priority and drown out genuine need.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7</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CONSTITUENCY X-RAY</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₹463 crore owed-but-undelivered to Coimbatore</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Gap-math against what schemes are obligated to deliver — a defensible figure, not a projection. ₹308 crore of it is computed directly from real Census 2011 amenity gaps.</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07 / 12</a:t>
            </a:r>
          </a:p>
        </p:txBody>
      </p:sp>
      <p:sp>
        <p:nvSpPr>
          <p:cNvPr id="13" name="Rounded Rectangle 12"/>
          <p:cNvSpPr/>
          <p:nvPr/>
        </p:nvSpPr>
        <p:spPr>
          <a:xfrm>
            <a:off x="548640" y="2743200"/>
            <a:ext cx="5120640" cy="2834640"/>
          </a:xfrm>
          <a:prstGeom prst="roundRect">
            <a:avLst>
              <a:gd name="adj" fmla="val 6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971800"/>
            <a:ext cx="4572000" cy="274320"/>
          </a:xfrm>
          <a:prstGeom prst="rect">
            <a:avLst/>
          </a:prstGeom>
          <a:noFill/>
        </p:spPr>
        <p:txBody>
          <a:bodyPr wrap="square" anchor="t" lIns="25400" rIns="25400" tIns="12700" bIns="12700">
            <a:spAutoFit/>
          </a:bodyPr>
          <a:lstStyle/>
          <a:p>
            <a:pPr algn="l">
              <a:spcBef>
                <a:spcPts val="0"/>
              </a:spcBef>
              <a:spcAft>
                <a:spcPts val="200"/>
              </a:spcAft>
            </a:pPr>
            <a:r>
              <a:rPr sz="1100" b="1">
                <a:solidFill>
                  <a:srgbClr val="9BADBE"/>
                </a:solidFill>
                <a:latin typeface="Segoe UI"/>
              </a:rPr>
              <a:t>OWED-BUT-UNDELIVERED  ·  COIMBATORE</a:t>
            </a:r>
          </a:p>
        </p:txBody>
      </p:sp>
      <p:sp>
        <p:nvSpPr>
          <p:cNvPr id="15" name="TextBox 14"/>
          <p:cNvSpPr txBox="1"/>
          <p:nvPr/>
        </p:nvSpPr>
        <p:spPr>
          <a:xfrm>
            <a:off x="822960" y="3291840"/>
            <a:ext cx="4572000" cy="1005840"/>
          </a:xfrm>
          <a:prstGeom prst="rect">
            <a:avLst/>
          </a:prstGeom>
          <a:noFill/>
        </p:spPr>
        <p:txBody>
          <a:bodyPr wrap="square" anchor="t" lIns="25400" rIns="25400" tIns="12700" bIns="12700">
            <a:spAutoFit/>
          </a:bodyPr>
          <a:lstStyle/>
          <a:p>
            <a:pPr algn="l">
              <a:spcBef>
                <a:spcPts val="0"/>
              </a:spcBef>
              <a:spcAft>
                <a:spcPts val="200"/>
              </a:spcAft>
            </a:pPr>
            <a:r>
              <a:rPr sz="7200" b="0">
                <a:solidFill>
                  <a:srgbClr val="FFFFFF"/>
                </a:solidFill>
                <a:latin typeface="Segoe UI"/>
              </a:rPr>
              <a:t>₹463 cr</a:t>
            </a:r>
          </a:p>
        </p:txBody>
      </p:sp>
      <p:sp>
        <p:nvSpPr>
          <p:cNvPr id="16" name="TextBox 15"/>
          <p:cNvSpPr txBox="1"/>
          <p:nvPr/>
        </p:nvSpPr>
        <p:spPr>
          <a:xfrm>
            <a:off x="868680" y="4434840"/>
            <a:ext cx="4572000" cy="274320"/>
          </a:xfrm>
          <a:prstGeom prst="rect">
            <a:avLst/>
          </a:prstGeom>
          <a:noFill/>
        </p:spPr>
        <p:txBody>
          <a:bodyPr wrap="square" anchor="t" lIns="25400" rIns="25400" tIns="12700" bIns="12700">
            <a:spAutoFit/>
          </a:bodyPr>
          <a:lstStyle/>
          <a:p>
            <a:pPr algn="l">
              <a:spcBef>
                <a:spcPts val="0"/>
              </a:spcBef>
              <a:spcAft>
                <a:spcPts val="200"/>
              </a:spcAft>
            </a:pPr>
            <a:r>
              <a:rPr sz="1350" b="0">
                <a:solidFill>
                  <a:srgbClr val="B8C6D4"/>
                </a:solidFill>
                <a:latin typeface="Segoe UI"/>
              </a:rPr>
              <a:t>total entitlement surfaced across the constituency</a:t>
            </a:r>
          </a:p>
        </p:txBody>
      </p:sp>
      <p:sp>
        <p:nvSpPr>
          <p:cNvPr id="17" name="Rounded Rectangle 16"/>
          <p:cNvSpPr/>
          <p:nvPr/>
        </p:nvSpPr>
        <p:spPr>
          <a:xfrm>
            <a:off x="868680" y="4800600"/>
            <a:ext cx="4480560" cy="594360"/>
          </a:xfrm>
          <a:prstGeom prst="roundRect">
            <a:avLst>
              <a:gd name="adj" fmla="val 6000"/>
            </a:avLst>
          </a:prstGeom>
          <a:solidFill>
            <a:srgbClr val="1A3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800600"/>
            <a:ext cx="45720" cy="594360"/>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828032"/>
            <a:ext cx="4206240" cy="548640"/>
          </a:xfrm>
          <a:prstGeom prst="rect">
            <a:avLst/>
          </a:prstGeom>
          <a:noFill/>
        </p:spPr>
        <p:txBody>
          <a:bodyPr wrap="square" anchor="ctr" lIns="25400" rIns="25400" tIns="12700" bIns="12700">
            <a:spAutoFit/>
          </a:bodyPr>
          <a:lstStyle/>
          <a:p>
            <a:pPr algn="l">
              <a:spcBef>
                <a:spcPts val="0"/>
              </a:spcBef>
              <a:spcAft>
                <a:spcPts val="200"/>
              </a:spcAft>
            </a:pPr>
            <a:r>
              <a:rPr sz="1800" b="1">
                <a:solidFill>
                  <a:srgbClr val="C6851B"/>
                </a:solidFill>
                <a:latin typeface="Segoe UI"/>
              </a:rPr>
              <a:t>₹308 cr  </a:t>
            </a:r>
            <a:r>
              <a:rPr sz="1250" b="1">
                <a:solidFill>
                  <a:srgbClr val="FFFFFF"/>
                </a:solidFill>
                <a:latin typeface="Segoe UI"/>
              </a:rPr>
              <a:t>computed from real Census 2011 amenity gaps</a:t>
            </a:r>
          </a:p>
          <a:p>
            <a:pPr algn="l">
              <a:spcBef>
                <a:spcPts val="0"/>
              </a:spcBef>
              <a:spcAft>
                <a:spcPts val="200"/>
              </a:spcAft>
            </a:pPr>
            <a:r>
              <a:rPr sz="1100" b="0">
                <a:solidFill>
                  <a:srgbClr val="B8C6D4"/>
                </a:solidFill>
                <a:latin typeface="Segoe UI"/>
              </a:rPr>
              <a:t>across 237 Coimbatore villages · real village MIS</a:t>
            </a:r>
          </a:p>
        </p:txBody>
      </p:sp>
      <p:sp>
        <p:nvSpPr>
          <p:cNvPr id="20" name="TextBox 19"/>
          <p:cNvSpPr txBox="1"/>
          <p:nvPr/>
        </p:nvSpPr>
        <p:spPr>
          <a:xfrm>
            <a:off x="6126480" y="2697480"/>
            <a:ext cx="5486400" cy="320040"/>
          </a:xfrm>
          <a:prstGeom prst="rect">
            <a:avLst/>
          </a:prstGeom>
          <a:noFill/>
        </p:spPr>
        <p:txBody>
          <a:bodyPr wrap="square" anchor="t" lIns="25400" rIns="25400" tIns="12700" bIns="12700">
            <a:spAutoFit/>
          </a:bodyPr>
          <a:lstStyle/>
          <a:p>
            <a:pPr algn="l">
              <a:spcBef>
                <a:spcPts val="0"/>
              </a:spcBef>
              <a:spcAft>
                <a:spcPts val="200"/>
              </a:spcAft>
            </a:pPr>
            <a:r>
              <a:rPr sz="1500" b="1">
                <a:solidFill>
                  <a:srgbClr val="0E2A47"/>
                </a:solidFill>
                <a:latin typeface="Segoe UI"/>
              </a:rPr>
              <a:t>Data sources, labelled on screen</a:t>
            </a:r>
          </a:p>
        </p:txBody>
      </p:sp>
      <p:sp>
        <p:nvSpPr>
          <p:cNvPr id="21" name="Rounded Rectangle 20"/>
          <p:cNvSpPr/>
          <p:nvPr/>
        </p:nvSpPr>
        <p:spPr>
          <a:xfrm>
            <a:off x="6126480" y="3127248"/>
            <a:ext cx="5513832" cy="530352"/>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3127248"/>
            <a:ext cx="45720" cy="530352"/>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3163824"/>
            <a:ext cx="5212080" cy="502920"/>
          </a:xfrm>
          <a:prstGeom prst="rect">
            <a:avLst/>
          </a:prstGeom>
          <a:noFill/>
        </p:spPr>
        <p:txBody>
          <a:bodyPr wrap="square" anchor="ctr" lIns="25400" rIns="25400" tIns="12700" bIns="12700">
            <a:spAutoFit/>
          </a:bodyPr>
          <a:lstStyle/>
          <a:p>
            <a:pPr algn="l">
              <a:spcBef>
                <a:spcPts val="0"/>
              </a:spcBef>
              <a:spcAft>
                <a:spcPts val="200"/>
              </a:spcAft>
            </a:pPr>
            <a:r>
              <a:rPr sz="1300" b="1">
                <a:solidFill>
                  <a:srgbClr val="0E2A47"/>
                </a:solidFill>
                <a:latin typeface="Segoe UI"/>
              </a:rPr>
              <a:t>Rural gap-math</a:t>
            </a:r>
          </a:p>
          <a:p>
            <a:pPr algn="l">
              <a:spcBef>
                <a:spcPts val="0"/>
              </a:spcBef>
              <a:spcAft>
                <a:spcPts val="200"/>
              </a:spcAft>
            </a:pPr>
            <a:r>
              <a:rPr sz="1100" b="0">
                <a:solidFill>
                  <a:srgbClr val="5E7186"/>
                </a:solidFill>
                <a:latin typeface="Segoe UI"/>
              </a:rPr>
              <a:t>Real Census 2011 village amenity MIS (237 villages)</a:t>
            </a:r>
          </a:p>
        </p:txBody>
      </p:sp>
      <p:sp>
        <p:nvSpPr>
          <p:cNvPr id="24" name="Rounded Rectangle 23"/>
          <p:cNvSpPr/>
          <p:nvPr/>
        </p:nvSpPr>
        <p:spPr>
          <a:xfrm>
            <a:off x="6126480" y="3749039"/>
            <a:ext cx="5513832" cy="530352"/>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80" y="3749039"/>
            <a:ext cx="45720" cy="530352"/>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3785615"/>
            <a:ext cx="5212080" cy="502920"/>
          </a:xfrm>
          <a:prstGeom prst="rect">
            <a:avLst/>
          </a:prstGeom>
          <a:noFill/>
        </p:spPr>
        <p:txBody>
          <a:bodyPr wrap="square" anchor="ctr" lIns="25400" rIns="25400" tIns="12700" bIns="12700">
            <a:spAutoFit/>
          </a:bodyPr>
          <a:lstStyle/>
          <a:p>
            <a:pPr algn="l">
              <a:spcBef>
                <a:spcPts val="0"/>
              </a:spcBef>
              <a:spcAft>
                <a:spcPts val="200"/>
              </a:spcAft>
            </a:pPr>
            <a:r>
              <a:rPr sz="1300" b="1">
                <a:solidFill>
                  <a:srgbClr val="0E2A47"/>
                </a:solidFill>
                <a:latin typeface="Segoe UI"/>
              </a:rPr>
              <a:t>Geography</a:t>
            </a:r>
          </a:p>
          <a:p>
            <a:pPr algn="l">
              <a:spcBef>
                <a:spcPts val="0"/>
              </a:spcBef>
              <a:spcAft>
                <a:spcPts val="200"/>
              </a:spcAft>
            </a:pPr>
            <a:r>
              <a:rPr sz="1100" b="0">
                <a:solidFill>
                  <a:srgbClr val="5E7186"/>
                </a:solidFill>
                <a:latin typeface="Segoe UI"/>
              </a:rPr>
              <a:t>Real Coimbatore wards &amp; villages</a:t>
            </a:r>
          </a:p>
        </p:txBody>
      </p:sp>
      <p:sp>
        <p:nvSpPr>
          <p:cNvPr id="27" name="Rounded Rectangle 26"/>
          <p:cNvSpPr/>
          <p:nvPr/>
        </p:nvSpPr>
        <p:spPr>
          <a:xfrm>
            <a:off x="6126480" y="4370832"/>
            <a:ext cx="5513832" cy="530352"/>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4370832"/>
            <a:ext cx="45720" cy="530352"/>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4407408"/>
            <a:ext cx="5212080" cy="502920"/>
          </a:xfrm>
          <a:prstGeom prst="rect">
            <a:avLst/>
          </a:prstGeom>
          <a:noFill/>
        </p:spPr>
        <p:txBody>
          <a:bodyPr wrap="square" anchor="ctr" lIns="25400" rIns="25400" tIns="12700" bIns="12700">
            <a:spAutoFit/>
          </a:bodyPr>
          <a:lstStyle/>
          <a:p>
            <a:pPr algn="l">
              <a:spcBef>
                <a:spcPts val="0"/>
              </a:spcBef>
              <a:spcAft>
                <a:spcPts val="200"/>
              </a:spcAft>
            </a:pPr>
            <a:r>
              <a:rPr sz="1300" b="1">
                <a:solidFill>
                  <a:srgbClr val="0E2A47"/>
                </a:solidFill>
                <a:latin typeface="Segoe UI"/>
              </a:rPr>
              <a:t>Urban ward coverage</a:t>
            </a:r>
          </a:p>
          <a:p>
            <a:pPr algn="l">
              <a:spcBef>
                <a:spcPts val="0"/>
              </a:spcBef>
              <a:spcAft>
                <a:spcPts val="200"/>
              </a:spcAft>
            </a:pPr>
            <a:r>
              <a:rPr sz="1100" b="0">
                <a:solidFill>
                  <a:srgbClr val="5E7186"/>
                </a:solidFill>
                <a:latin typeface="Segoe UI"/>
              </a:rPr>
              <a:t>Modelled scheme coverage — stated openly</a:t>
            </a:r>
          </a:p>
        </p:txBody>
      </p:sp>
      <p:sp>
        <p:nvSpPr>
          <p:cNvPr id="30" name="Rounded Rectangle 29"/>
          <p:cNvSpPr/>
          <p:nvPr/>
        </p:nvSpPr>
        <p:spPr>
          <a:xfrm>
            <a:off x="6126480" y="4992624"/>
            <a:ext cx="5513832" cy="530352"/>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26480" y="4992624"/>
            <a:ext cx="45720" cy="530352"/>
          </a:xfrm>
          <a:prstGeom prst="rect">
            <a:avLst/>
          </a:prstGeom>
          <a:solidFill>
            <a:srgbClr val="C75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5029200"/>
            <a:ext cx="5212080" cy="502920"/>
          </a:xfrm>
          <a:prstGeom prst="rect">
            <a:avLst/>
          </a:prstGeom>
          <a:noFill/>
        </p:spPr>
        <p:txBody>
          <a:bodyPr wrap="square" anchor="ctr" lIns="25400" rIns="25400" tIns="12700" bIns="12700">
            <a:spAutoFit/>
          </a:bodyPr>
          <a:lstStyle/>
          <a:p>
            <a:pPr algn="l">
              <a:spcBef>
                <a:spcPts val="0"/>
              </a:spcBef>
              <a:spcAft>
                <a:spcPts val="200"/>
              </a:spcAft>
            </a:pPr>
            <a:r>
              <a:rPr sz="1300" b="1">
                <a:solidFill>
                  <a:srgbClr val="0E2A47"/>
                </a:solidFill>
                <a:latin typeface="Segoe UI"/>
              </a:rPr>
              <a:t>Citizen complaints</a:t>
            </a:r>
          </a:p>
          <a:p>
            <a:pPr algn="l">
              <a:spcBef>
                <a:spcPts val="0"/>
              </a:spcBef>
              <a:spcAft>
                <a:spcPts val="200"/>
              </a:spcAft>
            </a:pPr>
            <a:r>
              <a:rPr sz="1100" b="0">
                <a:solidFill>
                  <a:srgbClr val="5E7186"/>
                </a:solidFill>
                <a:latin typeface="Segoe UI"/>
              </a:rPr>
              <a:t>Synthetic for privacy, mapped to real geography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8</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SILENT-VILLAGE DETECTION</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Attention allocated by need — not by volume</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A normal grievance system serves whoever complains loudest. We invert it: silent-village detection surfaces the villages with the highest need and almost no petitions.</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08 / 12</a:t>
            </a:r>
          </a:p>
        </p:txBody>
      </p:sp>
      <p:sp>
        <p:nvSpPr>
          <p:cNvPr id="13" name="Rounded Rectangle 12"/>
          <p:cNvSpPr/>
          <p:nvPr/>
        </p:nvSpPr>
        <p:spPr>
          <a:xfrm>
            <a:off x="548640" y="2743200"/>
            <a:ext cx="5120640" cy="2834640"/>
          </a:xfrm>
          <a:prstGeom prst="roundRect">
            <a:avLst>
              <a:gd name="adj" fmla="val 6000"/>
            </a:avLst>
          </a:prstGeom>
          <a:solidFill>
            <a:srgbClr val="EEF3F8"/>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880360"/>
            <a:ext cx="4572000" cy="274320"/>
          </a:xfrm>
          <a:prstGeom prst="rect">
            <a:avLst/>
          </a:prstGeom>
          <a:noFill/>
        </p:spPr>
        <p:txBody>
          <a:bodyPr wrap="square" anchor="t" lIns="25400" rIns="25400" tIns="12700" bIns="12700">
            <a:spAutoFit/>
          </a:bodyPr>
          <a:lstStyle/>
          <a:p>
            <a:pPr algn="l">
              <a:spcBef>
                <a:spcPts val="0"/>
              </a:spcBef>
              <a:spcAft>
                <a:spcPts val="200"/>
              </a:spcAft>
            </a:pPr>
            <a:r>
              <a:rPr sz="1100" b="1">
                <a:solidFill>
                  <a:srgbClr val="8CA0B3"/>
                </a:solidFill>
                <a:latin typeface="Segoe UI"/>
              </a:rPr>
              <a:t>COIMBATORE  ·  24 FLAGGED VILLAGES</a:t>
            </a:r>
          </a:p>
        </p:txBody>
      </p:sp>
      <p:sp>
        <p:nvSpPr>
          <p:cNvPr id="15" name="Oval 14"/>
          <p:cNvSpPr/>
          <p:nvPr/>
        </p:nvSpPr>
        <p:spPr>
          <a:xfrm>
            <a:off x="2214689" y="3581506"/>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20468" y="3430935"/>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6009" y="3994050"/>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72220" y="4266238"/>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84104" y="4124543"/>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23176" y="3466030"/>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647407" y="4879594"/>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355021" y="3720512"/>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19467" y="5111668"/>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303163" y="4053561"/>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018592" y="3381289"/>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12382" y="3847959"/>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442922" y="3518029"/>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148716" y="4858998"/>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599664" y="4408651"/>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68805" y="4006932"/>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176990" y="3412409"/>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79106" y="3687330"/>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747101" y="4112919"/>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173064" y="4416259"/>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770601" y="3867464"/>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236948" y="4634077"/>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872008" y="4394871"/>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80086" y="4972314"/>
            <a:ext cx="118872" cy="118872"/>
          </a:xfrm>
          <a:prstGeom prst="ellipse">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737360" y="4023360"/>
            <a:ext cx="182880" cy="182880"/>
          </a:xfrm>
          <a:prstGeom prst="ellipse">
            <a:avLst/>
          </a:prstGeom>
          <a:solidFill>
            <a:srgbClr val="C75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126480" y="3063240"/>
            <a:ext cx="5513832" cy="1691640"/>
          </a:xfrm>
          <a:prstGeom prst="roundRect">
            <a:avLst>
              <a:gd name="adj" fmla="val 6000"/>
            </a:avLst>
          </a:prstGeom>
          <a:solidFill>
            <a:srgbClr val="FFFFFF"/>
          </a:solidFill>
          <a:ln w="16510">
            <a:solidFill>
              <a:srgbClr val="DD9A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80" y="3063240"/>
            <a:ext cx="54864" cy="1691640"/>
          </a:xfrm>
          <a:prstGeom prst="rect">
            <a:avLst/>
          </a:prstGeom>
          <a:solidFill>
            <a:srgbClr val="C75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3200400"/>
            <a:ext cx="5120640" cy="274320"/>
          </a:xfrm>
          <a:prstGeom prst="rect">
            <a:avLst/>
          </a:prstGeom>
          <a:noFill/>
        </p:spPr>
        <p:txBody>
          <a:bodyPr wrap="square" anchor="t" lIns="25400" rIns="25400" tIns="12700" bIns="12700">
            <a:spAutoFit/>
          </a:bodyPr>
          <a:lstStyle/>
          <a:p>
            <a:pPr algn="l">
              <a:spcBef>
                <a:spcPts val="0"/>
              </a:spcBef>
              <a:spcAft>
                <a:spcPts val="200"/>
              </a:spcAft>
            </a:pPr>
            <a:r>
              <a:rPr sz="1100" b="1">
                <a:solidFill>
                  <a:srgbClr val="C7574E"/>
                </a:solidFill>
                <a:latin typeface="Segoe UI"/>
              </a:rPr>
              <a:t>TOP SILENT CASE</a:t>
            </a:r>
          </a:p>
        </p:txBody>
      </p:sp>
      <p:sp>
        <p:nvSpPr>
          <p:cNvPr id="43" name="TextBox 42"/>
          <p:cNvSpPr txBox="1"/>
          <p:nvPr/>
        </p:nvSpPr>
        <p:spPr>
          <a:xfrm>
            <a:off x="6355080" y="3474720"/>
            <a:ext cx="5120640" cy="411480"/>
          </a:xfrm>
          <a:prstGeom prst="rect">
            <a:avLst/>
          </a:prstGeom>
          <a:noFill/>
        </p:spPr>
        <p:txBody>
          <a:bodyPr wrap="square" anchor="t" lIns="25400" rIns="25400" tIns="12700" bIns="12700">
            <a:spAutoFit/>
          </a:bodyPr>
          <a:lstStyle/>
          <a:p>
            <a:pPr algn="l">
              <a:spcBef>
                <a:spcPts val="0"/>
              </a:spcBef>
              <a:spcAft>
                <a:spcPts val="200"/>
              </a:spcAft>
            </a:pPr>
            <a:r>
              <a:rPr sz="2400" b="0">
                <a:solidFill>
                  <a:srgbClr val="0E2A47"/>
                </a:solidFill>
                <a:latin typeface="Segoe UI"/>
              </a:rPr>
              <a:t>Jaganarai Slopes R.F.</a:t>
            </a:r>
          </a:p>
        </p:txBody>
      </p:sp>
      <p:sp>
        <p:nvSpPr>
          <p:cNvPr id="44" name="TextBox 43"/>
          <p:cNvSpPr txBox="1"/>
          <p:nvPr/>
        </p:nvSpPr>
        <p:spPr>
          <a:xfrm>
            <a:off x="6355080" y="3977639"/>
            <a:ext cx="2286000" cy="54864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5E7186"/>
                </a:solidFill>
                <a:latin typeface="Segoe UI"/>
              </a:rPr>
              <a:t>need score</a:t>
            </a:r>
          </a:p>
          <a:p>
            <a:pPr algn="l">
              <a:spcBef>
                <a:spcPts val="0"/>
              </a:spcBef>
              <a:spcAft>
                <a:spcPts val="200"/>
              </a:spcAft>
            </a:pPr>
            <a:r>
              <a:rPr sz="3400" b="1">
                <a:solidFill>
                  <a:srgbClr val="C7574E"/>
                </a:solidFill>
                <a:latin typeface="Segoe UI"/>
              </a:rPr>
              <a:t>1.0</a:t>
            </a:r>
          </a:p>
        </p:txBody>
      </p:sp>
      <p:sp>
        <p:nvSpPr>
          <p:cNvPr id="45" name="TextBox 44"/>
          <p:cNvSpPr txBox="1"/>
          <p:nvPr/>
        </p:nvSpPr>
        <p:spPr>
          <a:xfrm>
            <a:off x="8778240" y="3977639"/>
            <a:ext cx="2286000" cy="54864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5E7186"/>
                </a:solidFill>
                <a:latin typeface="Segoe UI"/>
              </a:rPr>
              <a:t>petitions filed</a:t>
            </a:r>
          </a:p>
          <a:p>
            <a:pPr algn="l">
              <a:spcBef>
                <a:spcPts val="0"/>
              </a:spcBef>
              <a:spcAft>
                <a:spcPts val="200"/>
              </a:spcAft>
            </a:pPr>
            <a:r>
              <a:rPr sz="3400" b="1">
                <a:solidFill>
                  <a:srgbClr val="0E2A47"/>
                </a:solidFill>
                <a:latin typeface="Segoe UI"/>
              </a:rPr>
              <a:t>0</a:t>
            </a:r>
          </a:p>
        </p:txBody>
      </p:sp>
      <p:sp>
        <p:nvSpPr>
          <p:cNvPr id="46" name="Rounded Rectangle 45"/>
          <p:cNvSpPr/>
          <p:nvPr/>
        </p:nvSpPr>
        <p:spPr>
          <a:xfrm>
            <a:off x="6126480" y="4892040"/>
            <a:ext cx="5513832" cy="685800"/>
          </a:xfrm>
          <a:prstGeom prst="roundRect">
            <a:avLst>
              <a:gd name="adj" fmla="val 6000"/>
            </a:avLst>
          </a:prstGeom>
          <a:solidFill>
            <a:srgbClr val="F7EDDF"/>
          </a:solidFill>
          <a:ln w="12700">
            <a:solidFill>
              <a:srgbClr val="DCB5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80" y="4956048"/>
            <a:ext cx="822960" cy="548640"/>
          </a:xfrm>
          <a:prstGeom prst="rect">
            <a:avLst/>
          </a:prstGeom>
          <a:noFill/>
        </p:spPr>
        <p:txBody>
          <a:bodyPr wrap="square" anchor="ctr" lIns="25400" rIns="25400" tIns="12700" bIns="12700">
            <a:spAutoFit/>
          </a:bodyPr>
          <a:lstStyle/>
          <a:p>
            <a:pPr algn="l">
              <a:spcBef>
                <a:spcPts val="0"/>
              </a:spcBef>
              <a:spcAft>
                <a:spcPts val="200"/>
              </a:spcAft>
            </a:pPr>
            <a:r>
              <a:rPr sz="2800" b="1">
                <a:solidFill>
                  <a:srgbClr val="C6851B"/>
                </a:solidFill>
                <a:latin typeface="Segoe UI"/>
              </a:rPr>
              <a:t>24</a:t>
            </a:r>
          </a:p>
        </p:txBody>
      </p:sp>
      <p:sp>
        <p:nvSpPr>
          <p:cNvPr id="48" name="TextBox 47"/>
          <p:cNvSpPr txBox="1"/>
          <p:nvPr/>
        </p:nvSpPr>
        <p:spPr>
          <a:xfrm>
            <a:off x="7086600" y="4956048"/>
            <a:ext cx="4389120" cy="548640"/>
          </a:xfrm>
          <a:prstGeom prst="rect">
            <a:avLst/>
          </a:prstGeom>
          <a:noFill/>
        </p:spPr>
        <p:txBody>
          <a:bodyPr wrap="square" anchor="ctr" lIns="25400" rIns="25400" tIns="12700" bIns="12700">
            <a:spAutoFit/>
          </a:bodyPr>
          <a:lstStyle/>
          <a:p>
            <a:pPr algn="l">
              <a:spcBef>
                <a:spcPts val="0"/>
              </a:spcBef>
              <a:spcAft>
                <a:spcPts val="200"/>
              </a:spcAft>
            </a:pPr>
            <a:r>
              <a:rPr sz="1200" b="0">
                <a:solidFill>
                  <a:srgbClr val="1B3D5E"/>
                </a:solidFill>
                <a:latin typeface="Segoe UI"/>
              </a:rPr>
              <a:t>Coimbatore villages flagged with high need and near-zero petitions — the equity mechanism, made visible.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9</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TWO-TRACK ACTION</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Unlock what’s owed · spend what’s left, well</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One click turns a top issue into action on both tracks, then closes the loop with the citizen who reported it.</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09 / 12</a:t>
            </a:r>
          </a:p>
        </p:txBody>
      </p:sp>
      <p:sp>
        <p:nvSpPr>
          <p:cNvPr id="13" name="Rounded Rectangle 12"/>
          <p:cNvSpPr/>
          <p:nvPr/>
        </p:nvSpPr>
        <p:spPr>
          <a:xfrm>
            <a:off x="548640" y="2743200"/>
            <a:ext cx="5349240" cy="26060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285232"/>
            <a:ext cx="5349240" cy="64008"/>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2926080"/>
            <a:ext cx="1920240" cy="310896"/>
          </a:xfrm>
          <a:prstGeom prst="roundRect">
            <a:avLst>
              <a:gd name="adj" fmla="val 6000"/>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926080"/>
            <a:ext cx="1920240" cy="310896"/>
          </a:xfrm>
          <a:prstGeom prst="rect">
            <a:avLst/>
          </a:prstGeom>
          <a:noFill/>
        </p:spPr>
        <p:txBody>
          <a:bodyPr wrap="square" anchor="ctr" lIns="25400" rIns="25400" tIns="12700" bIns="12700">
            <a:spAutoFit/>
          </a:bodyPr>
          <a:lstStyle/>
          <a:p>
            <a:pPr algn="ctr">
              <a:spcBef>
                <a:spcPts val="0"/>
              </a:spcBef>
              <a:spcAft>
                <a:spcPts val="200"/>
              </a:spcAft>
            </a:pPr>
            <a:r>
              <a:rPr sz="1050" b="1">
                <a:solidFill>
                  <a:srgbClr val="FFFFFF"/>
                </a:solidFill>
                <a:latin typeface="Segoe UI"/>
              </a:rPr>
              <a:t>TRACK 1  ·  UNLOCK</a:t>
            </a:r>
          </a:p>
        </p:txBody>
      </p:sp>
      <p:sp>
        <p:nvSpPr>
          <p:cNvPr id="17" name="TextBox 16"/>
          <p:cNvSpPr txBox="1"/>
          <p:nvPr/>
        </p:nvSpPr>
        <p:spPr>
          <a:xfrm>
            <a:off x="777240" y="3337560"/>
            <a:ext cx="4937760" cy="365760"/>
          </a:xfrm>
          <a:prstGeom prst="rect">
            <a:avLst/>
          </a:prstGeom>
          <a:noFill/>
        </p:spPr>
        <p:txBody>
          <a:bodyPr wrap="square" anchor="t" lIns="25400" rIns="25400" tIns="12700" bIns="12700">
            <a:spAutoFit/>
          </a:bodyPr>
          <a:lstStyle/>
          <a:p>
            <a:pPr algn="l">
              <a:spcBef>
                <a:spcPts val="0"/>
              </a:spcBef>
              <a:spcAft>
                <a:spcPts val="200"/>
              </a:spcAft>
            </a:pPr>
            <a:r>
              <a:rPr sz="1600" b="1">
                <a:solidFill>
                  <a:srgbClr val="0E2A47"/>
                </a:solidFill>
                <a:latin typeface="Segoe UI"/>
              </a:rPr>
              <a:t>Gemini-drafted department letter → PDF</a:t>
            </a:r>
          </a:p>
        </p:txBody>
      </p:sp>
      <p:sp>
        <p:nvSpPr>
          <p:cNvPr id="18" name="Rounded Rectangle 17"/>
          <p:cNvSpPr/>
          <p:nvPr/>
        </p:nvSpPr>
        <p:spPr>
          <a:xfrm>
            <a:off x="777240" y="3794760"/>
            <a:ext cx="4892040" cy="1234440"/>
          </a:xfrm>
          <a:prstGeom prst="roundRect">
            <a:avLst>
              <a:gd name="adj" fmla="val 6000"/>
            </a:avLst>
          </a:prstGeom>
          <a:solidFill>
            <a:srgbClr val="F3F9F7"/>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0120" y="3931920"/>
            <a:ext cx="2363724" cy="5029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60120" y="4096511"/>
            <a:ext cx="3438144" cy="50292"/>
          </a:xfrm>
          <a:prstGeom prst="rect">
            <a:avLst/>
          </a:prstGeom>
          <a:solidFill>
            <a:srgbClr val="929F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4261104"/>
            <a:ext cx="3008376" cy="50292"/>
          </a:xfrm>
          <a:prstGeom prst="rect">
            <a:avLst/>
          </a:prstGeom>
          <a:solidFill>
            <a:srgbClr val="929F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 y="4425696"/>
            <a:ext cx="3653028" cy="50292"/>
          </a:xfrm>
          <a:prstGeom prst="rect">
            <a:avLst/>
          </a:prstGeom>
          <a:solidFill>
            <a:srgbClr val="929F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 y="4590288"/>
            <a:ext cx="1719072" cy="50292"/>
          </a:xfrm>
          <a:prstGeom prst="rect">
            <a:avLst/>
          </a:prstGeom>
          <a:solidFill>
            <a:srgbClr val="929F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773168"/>
            <a:ext cx="4572000" cy="228600"/>
          </a:xfrm>
          <a:prstGeom prst="rect">
            <a:avLst/>
          </a:prstGeom>
          <a:noFill/>
        </p:spPr>
        <p:txBody>
          <a:bodyPr wrap="square" anchor="t" lIns="25400" rIns="25400" tIns="12700" bIns="12700">
            <a:spAutoFit/>
          </a:bodyPr>
          <a:lstStyle/>
          <a:p>
            <a:pPr algn="l">
              <a:spcBef>
                <a:spcPts val="0"/>
              </a:spcBef>
              <a:spcAft>
                <a:spcPts val="200"/>
              </a:spcAft>
            </a:pPr>
            <a:r>
              <a:rPr sz="1000" b="0">
                <a:solidFill>
                  <a:srgbClr val="0A6656"/>
                </a:solidFill>
                <a:latin typeface="Segoe UI"/>
              </a:rPr>
              <a:t>cites scheme + entitlement  ·  a demand for money already owed</a:t>
            </a:r>
          </a:p>
        </p:txBody>
      </p:sp>
      <p:sp>
        <p:nvSpPr>
          <p:cNvPr id="25" name="Rounded Rectangle 24"/>
          <p:cNvSpPr/>
          <p:nvPr/>
        </p:nvSpPr>
        <p:spPr>
          <a:xfrm>
            <a:off x="6263640" y="2743200"/>
            <a:ext cx="5349240" cy="260604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5285232"/>
            <a:ext cx="5349240" cy="64008"/>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92240" y="2926080"/>
            <a:ext cx="2103120" cy="310896"/>
          </a:xfrm>
          <a:prstGeom prst="roundRect">
            <a:avLst>
              <a:gd name="adj" fmla="val 6000"/>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2926080"/>
            <a:ext cx="2103120" cy="310896"/>
          </a:xfrm>
          <a:prstGeom prst="rect">
            <a:avLst/>
          </a:prstGeom>
          <a:noFill/>
        </p:spPr>
        <p:txBody>
          <a:bodyPr wrap="square" anchor="ctr" lIns="25400" rIns="25400" tIns="12700" bIns="12700">
            <a:spAutoFit/>
          </a:bodyPr>
          <a:lstStyle/>
          <a:p>
            <a:pPr algn="ctr">
              <a:spcBef>
                <a:spcPts val="0"/>
              </a:spcBef>
              <a:spcAft>
                <a:spcPts val="200"/>
              </a:spcAft>
            </a:pPr>
            <a:r>
              <a:rPr sz="1050" b="1">
                <a:solidFill>
                  <a:srgbClr val="FFFFFF"/>
                </a:solidFill>
                <a:latin typeface="Segoe UI"/>
              </a:rPr>
              <a:t>TRACK 2  ·  SPEND WELL</a:t>
            </a:r>
          </a:p>
        </p:txBody>
      </p:sp>
      <p:sp>
        <p:nvSpPr>
          <p:cNvPr id="29" name="TextBox 28"/>
          <p:cNvSpPr txBox="1"/>
          <p:nvPr/>
        </p:nvSpPr>
        <p:spPr>
          <a:xfrm>
            <a:off x="6492240" y="3337560"/>
            <a:ext cx="4937760" cy="365760"/>
          </a:xfrm>
          <a:prstGeom prst="rect">
            <a:avLst/>
          </a:prstGeom>
          <a:noFill/>
        </p:spPr>
        <p:txBody>
          <a:bodyPr wrap="square" anchor="t" lIns="25400" rIns="25400" tIns="12700" bIns="12700">
            <a:spAutoFit/>
          </a:bodyPr>
          <a:lstStyle/>
          <a:p>
            <a:pPr algn="l">
              <a:spcBef>
                <a:spcPts val="0"/>
              </a:spcBef>
              <a:spcAft>
                <a:spcPts val="200"/>
              </a:spcAft>
            </a:pPr>
            <a:r>
              <a:rPr sz="1600" b="1">
                <a:solidFill>
                  <a:srgbClr val="0E2A47"/>
                </a:solidFill>
                <a:latin typeface="Segoe UI"/>
              </a:rPr>
              <a:t>OR-Tools optimiser allocates ₹5 crore</a:t>
            </a:r>
          </a:p>
        </p:txBody>
      </p:sp>
      <p:sp>
        <p:nvSpPr>
          <p:cNvPr id="30" name="TextBox 29"/>
          <p:cNvSpPr txBox="1"/>
          <p:nvPr/>
        </p:nvSpPr>
        <p:spPr>
          <a:xfrm>
            <a:off x="6492240" y="3703320"/>
            <a:ext cx="4937760" cy="274320"/>
          </a:xfrm>
          <a:prstGeom prst="rect">
            <a:avLst/>
          </a:prstGeom>
          <a:noFill/>
        </p:spPr>
        <p:txBody>
          <a:bodyPr wrap="square" anchor="t" lIns="25400" rIns="25400" tIns="12700" bIns="12700">
            <a:spAutoFit/>
          </a:bodyPr>
          <a:lstStyle/>
          <a:p>
            <a:pPr algn="l">
              <a:spcBef>
                <a:spcPts val="0"/>
              </a:spcBef>
              <a:spcAft>
                <a:spcPts val="200"/>
              </a:spcAft>
            </a:pPr>
            <a:r>
              <a:rPr sz="1200" b="0">
                <a:solidFill>
                  <a:srgbClr val="5E7186"/>
                </a:solidFill>
                <a:latin typeface="Segoe UI"/>
              </a:rPr>
              <a:t>across only the gaps no scheme covers</a:t>
            </a:r>
          </a:p>
        </p:txBody>
      </p:sp>
      <p:sp>
        <p:nvSpPr>
          <p:cNvPr id="31" name="TextBox 30"/>
          <p:cNvSpPr txBox="1"/>
          <p:nvPr/>
        </p:nvSpPr>
        <p:spPr>
          <a:xfrm>
            <a:off x="6492240" y="4041648"/>
            <a:ext cx="2011680" cy="22860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1B3D5E"/>
                </a:solidFill>
                <a:latin typeface="Segoe UI"/>
              </a:rPr>
              <a:t>Village link roads</a:t>
            </a:r>
          </a:p>
        </p:txBody>
      </p:sp>
      <p:sp>
        <p:nvSpPr>
          <p:cNvPr id="32" name="Rounded Rectangle 31"/>
          <p:cNvSpPr/>
          <p:nvPr/>
        </p:nvSpPr>
        <p:spPr>
          <a:xfrm>
            <a:off x="8686800" y="4069080"/>
            <a:ext cx="1371600" cy="128016"/>
          </a:xfrm>
          <a:prstGeom prst="roundRect">
            <a:avLst>
              <a:gd name="adj" fmla="val 6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686800" y="4069080"/>
            <a:ext cx="1234440" cy="128016"/>
          </a:xfrm>
          <a:prstGeom prst="roundRect">
            <a:avLst>
              <a:gd name="adj" fmla="val 6000"/>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4297680"/>
            <a:ext cx="2011680" cy="22860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1B3D5E"/>
                </a:solidFill>
                <a:latin typeface="Segoe UI"/>
              </a:rPr>
              <a:t>Anganwadi repair</a:t>
            </a:r>
          </a:p>
        </p:txBody>
      </p:sp>
      <p:sp>
        <p:nvSpPr>
          <p:cNvPr id="35" name="Rounded Rectangle 34"/>
          <p:cNvSpPr/>
          <p:nvPr/>
        </p:nvSpPr>
        <p:spPr>
          <a:xfrm>
            <a:off x="8686800" y="4325112"/>
            <a:ext cx="1371600" cy="128016"/>
          </a:xfrm>
          <a:prstGeom prst="roundRect">
            <a:avLst>
              <a:gd name="adj" fmla="val 6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686800" y="4325112"/>
            <a:ext cx="850392" cy="128016"/>
          </a:xfrm>
          <a:prstGeom prst="roundRect">
            <a:avLst>
              <a:gd name="adj" fmla="val 6000"/>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4553712"/>
            <a:ext cx="2011680" cy="22860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1B3D5E"/>
                </a:solidFill>
                <a:latin typeface="Segoe UI"/>
              </a:rPr>
              <a:t>Streetlights (unscheme)</a:t>
            </a:r>
          </a:p>
        </p:txBody>
      </p:sp>
      <p:sp>
        <p:nvSpPr>
          <p:cNvPr id="38" name="Rounded Rectangle 37"/>
          <p:cNvSpPr/>
          <p:nvPr/>
        </p:nvSpPr>
        <p:spPr>
          <a:xfrm>
            <a:off x="8686800" y="4581144"/>
            <a:ext cx="1371600" cy="128016"/>
          </a:xfrm>
          <a:prstGeom prst="roundRect">
            <a:avLst>
              <a:gd name="adj" fmla="val 6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686800" y="4581144"/>
            <a:ext cx="617220" cy="128016"/>
          </a:xfrm>
          <a:prstGeom prst="roundRect">
            <a:avLst>
              <a:gd name="adj" fmla="val 6000"/>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0" y="4809744"/>
            <a:ext cx="2011680" cy="228600"/>
          </a:xfrm>
          <a:prstGeom prst="rect">
            <a:avLst/>
          </a:prstGeom>
          <a:noFill/>
        </p:spPr>
        <p:txBody>
          <a:bodyPr wrap="square" anchor="t" lIns="25400" rIns="25400" tIns="12700" bIns="12700">
            <a:spAutoFit/>
          </a:bodyPr>
          <a:lstStyle/>
          <a:p>
            <a:pPr algn="l">
              <a:spcBef>
                <a:spcPts val="0"/>
              </a:spcBef>
              <a:spcAft>
                <a:spcPts val="200"/>
              </a:spcAft>
            </a:pPr>
            <a:r>
              <a:rPr sz="1100" b="0">
                <a:solidFill>
                  <a:srgbClr val="1B3D5E"/>
                </a:solidFill>
                <a:latin typeface="Segoe UI"/>
              </a:rPr>
              <a:t>Crematorium shed</a:t>
            </a:r>
          </a:p>
        </p:txBody>
      </p:sp>
      <p:sp>
        <p:nvSpPr>
          <p:cNvPr id="41" name="Rounded Rectangle 40"/>
          <p:cNvSpPr/>
          <p:nvPr/>
        </p:nvSpPr>
        <p:spPr>
          <a:xfrm>
            <a:off x="8686800" y="4837176"/>
            <a:ext cx="1371600" cy="128016"/>
          </a:xfrm>
          <a:prstGeom prst="roundRect">
            <a:avLst>
              <a:gd name="adj" fmla="val 6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686800" y="4837176"/>
            <a:ext cx="411479" cy="128016"/>
          </a:xfrm>
          <a:prstGeom prst="roundRect">
            <a:avLst>
              <a:gd name="adj" fmla="val 6000"/>
            </a:avLst>
          </a:prstGeom>
          <a:solidFill>
            <a:srgbClr val="1B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2240" y="5074920"/>
            <a:ext cx="4937760" cy="228600"/>
          </a:xfrm>
          <a:prstGeom prst="rect">
            <a:avLst/>
          </a:prstGeom>
          <a:noFill/>
        </p:spPr>
        <p:txBody>
          <a:bodyPr wrap="square" anchor="t" lIns="25400" rIns="25400" tIns="12700" bIns="12700">
            <a:spAutoFit/>
          </a:bodyPr>
          <a:lstStyle/>
          <a:p>
            <a:pPr algn="l">
              <a:spcBef>
                <a:spcPts val="0"/>
              </a:spcBef>
              <a:spcAft>
                <a:spcPts val="200"/>
              </a:spcAft>
            </a:pPr>
            <a:r>
              <a:rPr sz="1000" b="0">
                <a:solidFill>
                  <a:srgbClr val="5E7186"/>
                </a:solidFill>
                <a:latin typeface="Segoe UI"/>
              </a:rPr>
              <a:t>transparent priority scores  ·  gaps-only, never duplicating a scheme</a:t>
            </a:r>
          </a:p>
        </p:txBody>
      </p:sp>
      <p:sp>
        <p:nvSpPr>
          <p:cNvPr id="44" name="Rounded Rectangle 43"/>
          <p:cNvSpPr/>
          <p:nvPr/>
        </p:nvSpPr>
        <p:spPr>
          <a:xfrm>
            <a:off x="3108960" y="5532120"/>
            <a:ext cx="5971032" cy="457200"/>
          </a:xfrm>
          <a:prstGeom prst="roundRect">
            <a:avLst>
              <a:gd name="adj" fmla="val 6000"/>
            </a:avLst>
          </a:prstGeom>
          <a:solidFill>
            <a:srgbClr val="E5EDF5"/>
          </a:solidFill>
          <a:ln w="12700">
            <a:solidFill>
              <a:srgbClr val="81A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37560" y="5532120"/>
            <a:ext cx="5669280" cy="457200"/>
          </a:xfrm>
          <a:prstGeom prst="rect">
            <a:avLst/>
          </a:prstGeom>
          <a:noFill/>
        </p:spPr>
        <p:txBody>
          <a:bodyPr wrap="square" anchor="ctr" lIns="25400" rIns="25400" tIns="12700" bIns="12700">
            <a:spAutoFit/>
          </a:bodyPr>
          <a:lstStyle/>
          <a:p>
            <a:pPr algn="ctr">
              <a:spcBef>
                <a:spcPts val="0"/>
              </a:spcBef>
              <a:spcAft>
                <a:spcPts val="200"/>
              </a:spcAft>
            </a:pPr>
            <a:r>
              <a:rPr sz="1200" b="1">
                <a:solidFill>
                  <a:srgbClr val="1B3D5E"/>
                </a:solidFill>
                <a:latin typeface="Segoe UI"/>
              </a:rPr>
              <a:t>▶  Telegram to the citizen: “Your issue is resolved — here’s the letter we sent.”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10</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DEPLOYABILITY &amp; SCALE</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Runs today on Coimbatore — constituency-agnostic by design</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Swap the geography and Census data and it works elsewhere. Built cloud-native on managed GCP services so it scales without re-architecting, and the Telegram bot means zero app install for citizens.</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10 / 12</a:t>
            </a:r>
          </a:p>
        </p:txBody>
      </p:sp>
      <p:sp>
        <p:nvSpPr>
          <p:cNvPr id="13" name="Rounded Rectangle 12"/>
          <p:cNvSpPr/>
          <p:nvPr/>
        </p:nvSpPr>
        <p:spPr>
          <a:xfrm>
            <a:off x="822960" y="2743200"/>
            <a:ext cx="2651760" cy="1097280"/>
          </a:xfrm>
          <a:prstGeom prst="roundRect">
            <a:avLst>
              <a:gd name="adj" fmla="val 6000"/>
            </a:avLst>
          </a:prstGeom>
          <a:solidFill>
            <a:srgbClr val="E7F3F0"/>
          </a:solidFill>
          <a:ln w="16510">
            <a:solidFill>
              <a:srgbClr val="0F8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34640"/>
            <a:ext cx="2651760" cy="914400"/>
          </a:xfrm>
          <a:prstGeom prst="rect">
            <a:avLst/>
          </a:prstGeom>
          <a:noFill/>
        </p:spPr>
        <p:txBody>
          <a:bodyPr wrap="square" anchor="t" lIns="25400" rIns="25400" tIns="12700" bIns="12700">
            <a:spAutoFit/>
          </a:bodyPr>
          <a:lstStyle/>
          <a:p>
            <a:pPr algn="ctr">
              <a:spcBef>
                <a:spcPts val="0"/>
              </a:spcBef>
              <a:spcAft>
                <a:spcPts val="300"/>
              </a:spcAft>
            </a:pPr>
            <a:r>
              <a:rPr sz="2200" b="0">
                <a:solidFill>
                  <a:srgbClr val="0E2A47"/>
                </a:solidFill>
                <a:latin typeface="Segoe UI"/>
              </a:rPr>
              <a:t>Coimbatore</a:t>
            </a:r>
          </a:p>
          <a:p>
            <a:pPr algn="ctr">
              <a:spcBef>
                <a:spcPts val="0"/>
              </a:spcBef>
              <a:spcAft>
                <a:spcPts val="300"/>
              </a:spcAft>
            </a:pPr>
            <a:r>
              <a:rPr sz="1200" b="0">
                <a:solidFill>
                  <a:srgbClr val="5E7186"/>
                </a:solidFill>
                <a:latin typeface="Segoe UI"/>
              </a:rPr>
              <a:t>live today · real geography</a:t>
            </a:r>
          </a:p>
          <a:p>
            <a:pPr algn="ctr">
              <a:spcBef>
                <a:spcPts val="0"/>
              </a:spcBef>
              <a:spcAft>
                <a:spcPts val="300"/>
              </a:spcAft>
            </a:pPr>
            <a:r>
              <a:rPr sz="1150" b="1">
                <a:solidFill>
                  <a:srgbClr val="0A6656"/>
                </a:solidFill>
                <a:latin typeface="Segoe UI"/>
              </a:rPr>
              <a:t>237 villages · real Census</a:t>
            </a:r>
          </a:p>
        </p:txBody>
      </p:sp>
      <p:sp>
        <p:nvSpPr>
          <p:cNvPr id="15" name="TextBox 14"/>
          <p:cNvSpPr txBox="1"/>
          <p:nvPr/>
        </p:nvSpPr>
        <p:spPr>
          <a:xfrm>
            <a:off x="3566160" y="3063240"/>
            <a:ext cx="1188720" cy="548640"/>
          </a:xfrm>
          <a:prstGeom prst="rect">
            <a:avLst/>
          </a:prstGeom>
          <a:noFill/>
        </p:spPr>
        <p:txBody>
          <a:bodyPr wrap="square" anchor="t" lIns="25400" rIns="25400" tIns="12700" bIns="12700">
            <a:spAutoFit/>
          </a:bodyPr>
          <a:lstStyle/>
          <a:p>
            <a:pPr algn="ctr">
              <a:spcBef>
                <a:spcPts val="0"/>
              </a:spcBef>
              <a:spcAft>
                <a:spcPts val="200"/>
              </a:spcAft>
            </a:pPr>
            <a:r>
              <a:rPr sz="3400" b="1">
                <a:solidFill>
                  <a:srgbClr val="0E2A47"/>
                </a:solidFill>
                <a:latin typeface="Segoe UI"/>
              </a:rPr>
              <a:t>→</a:t>
            </a:r>
          </a:p>
        </p:txBody>
      </p:sp>
      <p:sp>
        <p:nvSpPr>
          <p:cNvPr id="16" name="TextBox 15"/>
          <p:cNvSpPr txBox="1"/>
          <p:nvPr/>
        </p:nvSpPr>
        <p:spPr>
          <a:xfrm>
            <a:off x="3566160" y="3657600"/>
            <a:ext cx="1188720" cy="274320"/>
          </a:xfrm>
          <a:prstGeom prst="rect">
            <a:avLst/>
          </a:prstGeom>
          <a:noFill/>
        </p:spPr>
        <p:txBody>
          <a:bodyPr wrap="square" anchor="t" lIns="25400" rIns="25400" tIns="12700" bIns="12700">
            <a:spAutoFit/>
          </a:bodyPr>
          <a:lstStyle/>
          <a:p>
            <a:pPr algn="ctr">
              <a:spcBef>
                <a:spcPts val="0"/>
              </a:spcBef>
              <a:spcAft>
                <a:spcPts val="200"/>
              </a:spcAft>
            </a:pPr>
            <a:r>
              <a:rPr sz="1100" b="0">
                <a:solidFill>
                  <a:srgbClr val="8CA0B3"/>
                </a:solidFill>
                <a:latin typeface="Segoe UI"/>
              </a:rPr>
              <a:t>swap data</a:t>
            </a:r>
          </a:p>
        </p:txBody>
      </p:sp>
      <p:sp>
        <p:nvSpPr>
          <p:cNvPr id="17" name="Rounded Rectangle 16"/>
          <p:cNvSpPr/>
          <p:nvPr/>
        </p:nvSpPr>
        <p:spPr>
          <a:xfrm>
            <a:off x="4846320" y="2743200"/>
            <a:ext cx="2651760" cy="1097280"/>
          </a:xfrm>
          <a:prstGeom prst="roundRect">
            <a:avLst>
              <a:gd name="adj" fmla="val 6000"/>
            </a:avLst>
          </a:prstGeom>
          <a:solidFill>
            <a:srgbClr val="FFFFFF"/>
          </a:solidFill>
          <a:ln w="1651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0" y="2834640"/>
            <a:ext cx="2651760" cy="914400"/>
          </a:xfrm>
          <a:prstGeom prst="rect">
            <a:avLst/>
          </a:prstGeom>
          <a:noFill/>
        </p:spPr>
        <p:txBody>
          <a:bodyPr wrap="square" anchor="t" lIns="25400" rIns="25400" tIns="12700" bIns="12700">
            <a:spAutoFit/>
          </a:bodyPr>
          <a:lstStyle/>
          <a:p>
            <a:pPr algn="ctr">
              <a:spcBef>
                <a:spcPts val="0"/>
              </a:spcBef>
              <a:spcAft>
                <a:spcPts val="300"/>
              </a:spcAft>
            </a:pPr>
            <a:r>
              <a:rPr sz="2100" b="0">
                <a:solidFill>
                  <a:srgbClr val="0E2A47"/>
                </a:solidFill>
                <a:latin typeface="Segoe UI"/>
              </a:rPr>
              <a:t>Any constituency</a:t>
            </a:r>
          </a:p>
          <a:p>
            <a:pPr algn="ctr">
              <a:spcBef>
                <a:spcPts val="0"/>
              </a:spcBef>
              <a:spcAft>
                <a:spcPts val="300"/>
              </a:spcAft>
            </a:pPr>
            <a:r>
              <a:rPr sz="1200" b="0">
                <a:solidFill>
                  <a:srgbClr val="5E7186"/>
                </a:solidFill>
                <a:latin typeface="Segoe UI"/>
              </a:rPr>
              <a:t>same pipeline, new geography</a:t>
            </a:r>
          </a:p>
          <a:p>
            <a:pPr algn="ctr">
              <a:spcBef>
                <a:spcPts val="0"/>
              </a:spcBef>
              <a:spcAft>
                <a:spcPts val="300"/>
              </a:spcAft>
            </a:pPr>
            <a:r>
              <a:rPr sz="1150" b="1">
                <a:solidFill>
                  <a:srgbClr val="2E6FB0"/>
                </a:solidFill>
                <a:latin typeface="Segoe UI"/>
              </a:rPr>
              <a:t>543 across India</a:t>
            </a:r>
          </a:p>
        </p:txBody>
      </p:sp>
      <p:sp>
        <p:nvSpPr>
          <p:cNvPr id="19" name="Rounded Rectangle 18"/>
          <p:cNvSpPr/>
          <p:nvPr/>
        </p:nvSpPr>
        <p:spPr>
          <a:xfrm>
            <a:off x="822960" y="4069080"/>
            <a:ext cx="10817352" cy="420624"/>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4069080"/>
            <a:ext cx="45720" cy="420624"/>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069080"/>
            <a:ext cx="2194560" cy="420624"/>
          </a:xfrm>
          <a:prstGeom prst="rect">
            <a:avLst/>
          </a:prstGeom>
          <a:noFill/>
        </p:spPr>
        <p:txBody>
          <a:bodyPr wrap="square" anchor="ctr" lIns="25400" rIns="25400" tIns="12700" bIns="12700">
            <a:spAutoFit/>
          </a:bodyPr>
          <a:lstStyle/>
          <a:p>
            <a:pPr algn="l">
              <a:spcBef>
                <a:spcPts val="0"/>
              </a:spcBef>
              <a:spcAft>
                <a:spcPts val="200"/>
              </a:spcAft>
            </a:pPr>
            <a:r>
              <a:rPr sz="1350" b="1">
                <a:solidFill>
                  <a:srgbClr val="0E2A47"/>
                </a:solidFill>
                <a:latin typeface="Segoe UI"/>
              </a:rPr>
              <a:t>Zero app install</a:t>
            </a:r>
          </a:p>
        </p:txBody>
      </p:sp>
      <p:sp>
        <p:nvSpPr>
          <p:cNvPr id="22" name="TextBox 21"/>
          <p:cNvSpPr txBox="1"/>
          <p:nvPr/>
        </p:nvSpPr>
        <p:spPr>
          <a:xfrm>
            <a:off x="3291840" y="4069080"/>
            <a:ext cx="8138160" cy="420624"/>
          </a:xfrm>
          <a:prstGeom prst="rect">
            <a:avLst/>
          </a:prstGeom>
          <a:noFill/>
        </p:spPr>
        <p:txBody>
          <a:bodyPr wrap="square" anchor="ctr" lIns="25400" rIns="25400" tIns="12700" bIns="12700">
            <a:spAutoFit/>
          </a:bodyPr>
          <a:lstStyle/>
          <a:p>
            <a:pPr algn="l">
              <a:spcBef>
                <a:spcPts val="0"/>
              </a:spcBef>
              <a:spcAft>
                <a:spcPts val="200"/>
              </a:spcAft>
            </a:pPr>
            <a:r>
              <a:rPr sz="1250" b="0">
                <a:solidFill>
                  <a:srgbClr val="5E7186"/>
                </a:solidFill>
                <a:latin typeface="Segoe UI"/>
              </a:rPr>
              <a:t>Citizens reach it through a Telegram bot they already have.</a:t>
            </a:r>
          </a:p>
        </p:txBody>
      </p:sp>
      <p:sp>
        <p:nvSpPr>
          <p:cNvPr id="23" name="Rounded Rectangle 22"/>
          <p:cNvSpPr/>
          <p:nvPr/>
        </p:nvSpPr>
        <p:spPr>
          <a:xfrm>
            <a:off x="822960" y="4572000"/>
            <a:ext cx="10817352" cy="420624"/>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4572000"/>
            <a:ext cx="45720" cy="420624"/>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572000"/>
            <a:ext cx="2194560" cy="420624"/>
          </a:xfrm>
          <a:prstGeom prst="rect">
            <a:avLst/>
          </a:prstGeom>
          <a:noFill/>
        </p:spPr>
        <p:txBody>
          <a:bodyPr wrap="square" anchor="ctr" lIns="25400" rIns="25400" tIns="12700" bIns="12700">
            <a:spAutoFit/>
          </a:bodyPr>
          <a:lstStyle/>
          <a:p>
            <a:pPr algn="l">
              <a:spcBef>
                <a:spcPts val="0"/>
              </a:spcBef>
              <a:spcAft>
                <a:spcPts val="200"/>
              </a:spcAft>
            </a:pPr>
            <a:r>
              <a:rPr sz="1350" b="1">
                <a:solidFill>
                  <a:srgbClr val="0E2A47"/>
                </a:solidFill>
                <a:latin typeface="Segoe UI"/>
              </a:rPr>
              <a:t>Managed &amp; serverless</a:t>
            </a:r>
          </a:p>
        </p:txBody>
      </p:sp>
      <p:sp>
        <p:nvSpPr>
          <p:cNvPr id="26" name="TextBox 25"/>
          <p:cNvSpPr txBox="1"/>
          <p:nvPr/>
        </p:nvSpPr>
        <p:spPr>
          <a:xfrm>
            <a:off x="3291840" y="4572000"/>
            <a:ext cx="8138160" cy="420624"/>
          </a:xfrm>
          <a:prstGeom prst="rect">
            <a:avLst/>
          </a:prstGeom>
          <a:noFill/>
        </p:spPr>
        <p:txBody>
          <a:bodyPr wrap="square" anchor="ctr" lIns="25400" rIns="25400" tIns="12700" bIns="12700">
            <a:spAutoFit/>
          </a:bodyPr>
          <a:lstStyle/>
          <a:p>
            <a:pPr algn="l">
              <a:spcBef>
                <a:spcPts val="0"/>
              </a:spcBef>
              <a:spcAft>
                <a:spcPts val="200"/>
              </a:spcAft>
            </a:pPr>
            <a:r>
              <a:rPr sz="1250" b="0">
                <a:solidFill>
                  <a:srgbClr val="5E7186"/>
                </a:solidFill>
                <a:latin typeface="Segoe UI"/>
              </a:rPr>
              <a:t>Cloud Run + BigQuery + Firestore scale with load, no ops burden.</a:t>
            </a:r>
          </a:p>
        </p:txBody>
      </p:sp>
      <p:sp>
        <p:nvSpPr>
          <p:cNvPr id="27" name="Rounded Rectangle 26"/>
          <p:cNvSpPr/>
          <p:nvPr/>
        </p:nvSpPr>
        <p:spPr>
          <a:xfrm>
            <a:off x="822960" y="5074920"/>
            <a:ext cx="10817352" cy="420624"/>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 y="5074920"/>
            <a:ext cx="45720" cy="420624"/>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074920"/>
            <a:ext cx="2194560" cy="420624"/>
          </a:xfrm>
          <a:prstGeom prst="rect">
            <a:avLst/>
          </a:prstGeom>
          <a:noFill/>
        </p:spPr>
        <p:txBody>
          <a:bodyPr wrap="square" anchor="ctr" lIns="25400" rIns="25400" tIns="12700" bIns="12700">
            <a:spAutoFit/>
          </a:bodyPr>
          <a:lstStyle/>
          <a:p>
            <a:pPr algn="l">
              <a:spcBef>
                <a:spcPts val="0"/>
              </a:spcBef>
              <a:spcAft>
                <a:spcPts val="200"/>
              </a:spcAft>
            </a:pPr>
            <a:r>
              <a:rPr sz="1350" b="1">
                <a:solidFill>
                  <a:srgbClr val="0E2A47"/>
                </a:solidFill>
                <a:latin typeface="Segoe UI"/>
              </a:rPr>
              <a:t>Audit-ready</a:t>
            </a:r>
          </a:p>
        </p:txBody>
      </p:sp>
      <p:sp>
        <p:nvSpPr>
          <p:cNvPr id="30" name="TextBox 29"/>
          <p:cNvSpPr txBox="1"/>
          <p:nvPr/>
        </p:nvSpPr>
        <p:spPr>
          <a:xfrm>
            <a:off x="3291840" y="5074920"/>
            <a:ext cx="8138160" cy="420624"/>
          </a:xfrm>
          <a:prstGeom prst="rect">
            <a:avLst/>
          </a:prstGeom>
          <a:noFill/>
        </p:spPr>
        <p:txBody>
          <a:bodyPr wrap="square" anchor="ctr" lIns="25400" rIns="25400" tIns="12700" bIns="12700">
            <a:spAutoFit/>
          </a:bodyPr>
          <a:lstStyle/>
          <a:p>
            <a:pPr algn="l">
              <a:spcBef>
                <a:spcPts val="0"/>
              </a:spcBef>
              <a:spcAft>
                <a:spcPts val="200"/>
              </a:spcAft>
            </a:pPr>
            <a:r>
              <a:rPr sz="1250" b="0">
                <a:solidFill>
                  <a:srgbClr val="5E7186"/>
                </a:solidFill>
                <a:latin typeface="Segoe UI"/>
              </a:rPr>
              <a:t>Every routed rupee traces to a source, a scheme and a letter.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11</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TECH STACK</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Google Cloud throughout, end to end</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A layered, cloud-native architecture: multimodal understanding, analytics, live state, geo-resolution and optimisation — behind a React dashboard and a Telegram bot.</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11 / 12</a:t>
            </a:r>
          </a:p>
        </p:txBody>
      </p:sp>
      <p:sp>
        <p:nvSpPr>
          <p:cNvPr id="13" name="Rounded Rectangle 12"/>
          <p:cNvSpPr/>
          <p:nvPr/>
        </p:nvSpPr>
        <p:spPr>
          <a:xfrm>
            <a:off x="548640" y="2743200"/>
            <a:ext cx="11091672" cy="868680"/>
          </a:xfrm>
          <a:prstGeom prst="roundRect">
            <a:avLst>
              <a:gd name="adj" fmla="val 6000"/>
            </a:avLst>
          </a:prstGeom>
          <a:solidFill>
            <a:srgbClr val="EAF0F7"/>
          </a:solidFill>
          <a:ln w="15240">
            <a:solidFill>
              <a:srgbClr val="96B7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743200"/>
            <a:ext cx="54864" cy="868680"/>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816352"/>
            <a:ext cx="10058400" cy="256032"/>
          </a:xfrm>
          <a:prstGeom prst="rect">
            <a:avLst/>
          </a:prstGeom>
          <a:noFill/>
        </p:spPr>
        <p:txBody>
          <a:bodyPr wrap="square" anchor="t" lIns="25400" rIns="25400" tIns="12700" bIns="12700">
            <a:spAutoFit/>
          </a:bodyPr>
          <a:lstStyle/>
          <a:p>
            <a:pPr algn="l">
              <a:spcBef>
                <a:spcPts val="0"/>
              </a:spcBef>
              <a:spcAft>
                <a:spcPts val="200"/>
              </a:spcAft>
            </a:pPr>
            <a:r>
              <a:rPr sz="1150" b="1">
                <a:solidFill>
                  <a:srgbClr val="2E6FB0"/>
                </a:solidFill>
                <a:latin typeface="Segoe UI"/>
              </a:rPr>
              <a:t>CLIENTS</a:t>
            </a:r>
          </a:p>
        </p:txBody>
      </p:sp>
      <p:sp>
        <p:nvSpPr>
          <p:cNvPr id="16" name="Rounded Rectangle 15"/>
          <p:cNvSpPr/>
          <p:nvPr/>
        </p:nvSpPr>
        <p:spPr>
          <a:xfrm>
            <a:off x="777240" y="3108960"/>
            <a:ext cx="5244084" cy="365759"/>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108960"/>
            <a:ext cx="5244084" cy="365759"/>
          </a:xfrm>
          <a:prstGeom prst="rect">
            <a:avLst/>
          </a:prstGeom>
          <a:noFill/>
        </p:spPr>
        <p:txBody>
          <a:bodyPr wrap="square" anchor="ctr" lIns="25400" rIns="25400" tIns="12700" bIns="12700">
            <a:spAutoFit/>
          </a:bodyPr>
          <a:lstStyle/>
          <a:p>
            <a:pPr algn="ctr">
              <a:spcBef>
                <a:spcPts val="0"/>
              </a:spcBef>
              <a:spcAft>
                <a:spcPts val="200"/>
              </a:spcAft>
            </a:pPr>
            <a:r>
              <a:rPr sz="1250" b="1">
                <a:solidFill>
                  <a:srgbClr val="0E2A47"/>
                </a:solidFill>
                <a:latin typeface="Segoe UI"/>
              </a:rPr>
              <a:t>React + TypeScript dashboard (6 screens)</a:t>
            </a:r>
          </a:p>
        </p:txBody>
      </p:sp>
      <p:sp>
        <p:nvSpPr>
          <p:cNvPr id="18" name="Rounded Rectangle 17"/>
          <p:cNvSpPr/>
          <p:nvPr/>
        </p:nvSpPr>
        <p:spPr>
          <a:xfrm>
            <a:off x="6167628" y="3108960"/>
            <a:ext cx="5244084" cy="365759"/>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67628" y="3108960"/>
            <a:ext cx="5244084" cy="365759"/>
          </a:xfrm>
          <a:prstGeom prst="rect">
            <a:avLst/>
          </a:prstGeom>
          <a:noFill/>
        </p:spPr>
        <p:txBody>
          <a:bodyPr wrap="square" anchor="ctr" lIns="25400" rIns="25400" tIns="12700" bIns="12700">
            <a:spAutoFit/>
          </a:bodyPr>
          <a:lstStyle/>
          <a:p>
            <a:pPr algn="ctr">
              <a:spcBef>
                <a:spcPts val="0"/>
              </a:spcBef>
              <a:spcAft>
                <a:spcPts val="200"/>
              </a:spcAft>
            </a:pPr>
            <a:r>
              <a:rPr sz="1250" b="1">
                <a:solidFill>
                  <a:srgbClr val="0E2A47"/>
                </a:solidFill>
                <a:latin typeface="Segoe UI"/>
              </a:rPr>
              <a:t>Telegram live-intake bot</a:t>
            </a:r>
          </a:p>
        </p:txBody>
      </p:sp>
      <p:sp>
        <p:nvSpPr>
          <p:cNvPr id="20" name="TextBox 19"/>
          <p:cNvSpPr txBox="1"/>
          <p:nvPr/>
        </p:nvSpPr>
        <p:spPr>
          <a:xfrm>
            <a:off x="5760720" y="3657600"/>
            <a:ext cx="640080" cy="274320"/>
          </a:xfrm>
          <a:prstGeom prst="rect">
            <a:avLst/>
          </a:prstGeom>
          <a:noFill/>
        </p:spPr>
        <p:txBody>
          <a:bodyPr wrap="square" anchor="t" lIns="25400" rIns="25400" tIns="12700" bIns="12700">
            <a:spAutoFit/>
          </a:bodyPr>
          <a:lstStyle/>
          <a:p>
            <a:pPr algn="ctr">
              <a:spcBef>
                <a:spcPts val="0"/>
              </a:spcBef>
              <a:spcAft>
                <a:spcPts val="200"/>
              </a:spcAft>
            </a:pPr>
            <a:r>
              <a:rPr sz="1600" b="1">
                <a:solidFill>
                  <a:srgbClr val="8CA0B3"/>
                </a:solidFill>
                <a:latin typeface="Segoe UI"/>
              </a:rPr>
              <a:t>▼</a:t>
            </a:r>
          </a:p>
        </p:txBody>
      </p:sp>
      <p:sp>
        <p:nvSpPr>
          <p:cNvPr id="21" name="Rounded Rectangle 20"/>
          <p:cNvSpPr/>
          <p:nvPr/>
        </p:nvSpPr>
        <p:spPr>
          <a:xfrm>
            <a:off x="548640" y="3977639"/>
            <a:ext cx="11091672" cy="777240"/>
          </a:xfrm>
          <a:prstGeom prst="roundRect">
            <a:avLst>
              <a:gd name="adj" fmla="val 6000"/>
            </a:avLst>
          </a:prstGeom>
          <a:solidFill>
            <a:srgbClr val="E7F3F0"/>
          </a:solidFill>
          <a:ln w="15240">
            <a:solidFill>
              <a:srgbClr val="87C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977639"/>
            <a:ext cx="54864" cy="777240"/>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50791"/>
            <a:ext cx="10058400" cy="256032"/>
          </a:xfrm>
          <a:prstGeom prst="rect">
            <a:avLst/>
          </a:prstGeom>
          <a:noFill/>
        </p:spPr>
        <p:txBody>
          <a:bodyPr wrap="square" anchor="t" lIns="25400" rIns="25400" tIns="12700" bIns="12700">
            <a:spAutoFit/>
          </a:bodyPr>
          <a:lstStyle/>
          <a:p>
            <a:pPr algn="l">
              <a:spcBef>
                <a:spcPts val="0"/>
              </a:spcBef>
              <a:spcAft>
                <a:spcPts val="200"/>
              </a:spcAft>
            </a:pPr>
            <a:r>
              <a:rPr sz="1150" b="1">
                <a:solidFill>
                  <a:srgbClr val="0F8A72"/>
                </a:solidFill>
                <a:latin typeface="Segoe UI"/>
              </a:rPr>
              <a:t>SERVICE LAYER</a:t>
            </a:r>
          </a:p>
        </p:txBody>
      </p:sp>
      <p:sp>
        <p:nvSpPr>
          <p:cNvPr id="24" name="Rounded Rectangle 23"/>
          <p:cNvSpPr/>
          <p:nvPr/>
        </p:nvSpPr>
        <p:spPr>
          <a:xfrm>
            <a:off x="777240" y="4343400"/>
            <a:ext cx="10634472" cy="274319"/>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343400"/>
            <a:ext cx="10634472" cy="274319"/>
          </a:xfrm>
          <a:prstGeom prst="rect">
            <a:avLst/>
          </a:prstGeom>
          <a:noFill/>
        </p:spPr>
        <p:txBody>
          <a:bodyPr wrap="square" anchor="ctr" lIns="25400" rIns="25400" tIns="12700" bIns="12700">
            <a:spAutoFit/>
          </a:bodyPr>
          <a:lstStyle/>
          <a:p>
            <a:pPr algn="ctr">
              <a:spcBef>
                <a:spcPts val="0"/>
              </a:spcBef>
              <a:spcAft>
                <a:spcPts val="200"/>
              </a:spcAft>
            </a:pPr>
            <a:r>
              <a:rPr sz="1250" b="1">
                <a:solidFill>
                  <a:srgbClr val="0E2A47"/>
                </a:solidFill>
                <a:latin typeface="Segoe UI"/>
              </a:rPr>
              <a:t>FastAPI backend on Cloud Run (serverless)</a:t>
            </a:r>
          </a:p>
        </p:txBody>
      </p:sp>
      <p:sp>
        <p:nvSpPr>
          <p:cNvPr id="26" name="TextBox 25"/>
          <p:cNvSpPr txBox="1"/>
          <p:nvPr/>
        </p:nvSpPr>
        <p:spPr>
          <a:xfrm>
            <a:off x="5760720" y="4800600"/>
            <a:ext cx="640080" cy="274320"/>
          </a:xfrm>
          <a:prstGeom prst="rect">
            <a:avLst/>
          </a:prstGeom>
          <a:noFill/>
        </p:spPr>
        <p:txBody>
          <a:bodyPr wrap="square" anchor="t" lIns="25400" rIns="25400" tIns="12700" bIns="12700">
            <a:spAutoFit/>
          </a:bodyPr>
          <a:lstStyle/>
          <a:p>
            <a:pPr algn="ctr">
              <a:spcBef>
                <a:spcPts val="0"/>
              </a:spcBef>
              <a:spcAft>
                <a:spcPts val="200"/>
              </a:spcAft>
            </a:pPr>
            <a:r>
              <a:rPr sz="1600" b="1">
                <a:solidFill>
                  <a:srgbClr val="8CA0B3"/>
                </a:solidFill>
                <a:latin typeface="Segoe UI"/>
              </a:rPr>
              <a:t>▼</a:t>
            </a:r>
          </a:p>
        </p:txBody>
      </p:sp>
      <p:sp>
        <p:nvSpPr>
          <p:cNvPr id="27" name="Rounded Rectangle 26"/>
          <p:cNvSpPr/>
          <p:nvPr/>
        </p:nvSpPr>
        <p:spPr>
          <a:xfrm>
            <a:off x="548640" y="5120640"/>
            <a:ext cx="11091672" cy="1005840"/>
          </a:xfrm>
          <a:prstGeom prst="roundRect">
            <a:avLst>
              <a:gd name="adj" fmla="val 6000"/>
            </a:avLst>
          </a:prstGeom>
          <a:solidFill>
            <a:srgbClr val="E6E9EC"/>
          </a:solidFill>
          <a:ln w="15240">
            <a:solidFill>
              <a:srgbClr val="8694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120640"/>
            <a:ext cx="54864" cy="100584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193792"/>
            <a:ext cx="10058400" cy="256032"/>
          </a:xfrm>
          <a:prstGeom prst="rect">
            <a:avLst/>
          </a:prstGeom>
          <a:noFill/>
        </p:spPr>
        <p:txBody>
          <a:bodyPr wrap="square" anchor="t" lIns="25400" rIns="25400" tIns="12700" bIns="12700">
            <a:spAutoFit/>
          </a:bodyPr>
          <a:lstStyle/>
          <a:p>
            <a:pPr algn="l">
              <a:spcBef>
                <a:spcPts val="0"/>
              </a:spcBef>
              <a:spcAft>
                <a:spcPts val="200"/>
              </a:spcAft>
            </a:pPr>
            <a:r>
              <a:rPr sz="1150" b="1">
                <a:solidFill>
                  <a:srgbClr val="0E2A47"/>
                </a:solidFill>
                <a:latin typeface="Segoe UI"/>
              </a:rPr>
              <a:t>GOOGLE CLOUD PLATFORM</a:t>
            </a:r>
          </a:p>
        </p:txBody>
      </p:sp>
      <p:sp>
        <p:nvSpPr>
          <p:cNvPr id="30" name="Rounded Rectangle 29"/>
          <p:cNvSpPr/>
          <p:nvPr/>
        </p:nvSpPr>
        <p:spPr>
          <a:xfrm>
            <a:off x="777240" y="5486400"/>
            <a:ext cx="2009851" cy="50292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486400"/>
            <a:ext cx="2009851" cy="502920"/>
          </a:xfrm>
          <a:prstGeom prst="rect">
            <a:avLst/>
          </a:prstGeom>
          <a:noFill/>
        </p:spPr>
        <p:txBody>
          <a:bodyPr wrap="square" anchor="ctr" lIns="25400" rIns="25400" tIns="12700" bIns="12700">
            <a:spAutoFit/>
          </a:bodyPr>
          <a:lstStyle/>
          <a:p>
            <a:pPr algn="ctr">
              <a:spcBef>
                <a:spcPts val="0"/>
              </a:spcBef>
              <a:spcAft>
                <a:spcPts val="200"/>
              </a:spcAft>
            </a:pPr>
            <a:r>
              <a:rPr sz="1250" b="1">
                <a:solidFill>
                  <a:srgbClr val="0E2A47"/>
                </a:solidFill>
                <a:latin typeface="Segoe UI"/>
              </a:rPr>
              <a:t>Vertex AI / Gemini 2.5-flash</a:t>
            </a:r>
          </a:p>
        </p:txBody>
      </p:sp>
      <p:sp>
        <p:nvSpPr>
          <p:cNvPr id="32" name="Rounded Rectangle 31"/>
          <p:cNvSpPr/>
          <p:nvPr/>
        </p:nvSpPr>
        <p:spPr>
          <a:xfrm>
            <a:off x="2933395" y="5486400"/>
            <a:ext cx="2009851" cy="50292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33395" y="5486400"/>
            <a:ext cx="2009851" cy="502920"/>
          </a:xfrm>
          <a:prstGeom prst="rect">
            <a:avLst/>
          </a:prstGeom>
          <a:noFill/>
        </p:spPr>
        <p:txBody>
          <a:bodyPr wrap="square" anchor="ctr" lIns="25400" rIns="25400" tIns="12700" bIns="12700">
            <a:spAutoFit/>
          </a:bodyPr>
          <a:lstStyle/>
          <a:p>
            <a:pPr algn="ctr">
              <a:spcBef>
                <a:spcPts val="0"/>
              </a:spcBef>
              <a:spcAft>
                <a:spcPts val="200"/>
              </a:spcAft>
            </a:pPr>
            <a:r>
              <a:rPr sz="1250" b="1">
                <a:solidFill>
                  <a:srgbClr val="0E2A47"/>
                </a:solidFill>
                <a:latin typeface="Segoe UI"/>
              </a:rPr>
              <a:t>BigQuery</a:t>
            </a:r>
          </a:p>
        </p:txBody>
      </p:sp>
      <p:sp>
        <p:nvSpPr>
          <p:cNvPr id="34" name="Rounded Rectangle 33"/>
          <p:cNvSpPr/>
          <p:nvPr/>
        </p:nvSpPr>
        <p:spPr>
          <a:xfrm>
            <a:off x="5089550" y="5486400"/>
            <a:ext cx="2009851" cy="50292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89550" y="5486400"/>
            <a:ext cx="2009851" cy="502920"/>
          </a:xfrm>
          <a:prstGeom prst="rect">
            <a:avLst/>
          </a:prstGeom>
          <a:noFill/>
        </p:spPr>
        <p:txBody>
          <a:bodyPr wrap="square" anchor="ctr" lIns="25400" rIns="25400" tIns="12700" bIns="12700">
            <a:spAutoFit/>
          </a:bodyPr>
          <a:lstStyle/>
          <a:p>
            <a:pPr algn="ctr">
              <a:spcBef>
                <a:spcPts val="0"/>
              </a:spcBef>
              <a:spcAft>
                <a:spcPts val="200"/>
              </a:spcAft>
            </a:pPr>
            <a:r>
              <a:rPr sz="1250" b="1">
                <a:solidFill>
                  <a:srgbClr val="0E2A47"/>
                </a:solidFill>
                <a:latin typeface="Segoe UI"/>
              </a:rPr>
              <a:t>Firestore</a:t>
            </a:r>
          </a:p>
        </p:txBody>
      </p:sp>
      <p:sp>
        <p:nvSpPr>
          <p:cNvPr id="36" name="Rounded Rectangle 35"/>
          <p:cNvSpPr/>
          <p:nvPr/>
        </p:nvSpPr>
        <p:spPr>
          <a:xfrm>
            <a:off x="7245705" y="5486400"/>
            <a:ext cx="2009851" cy="50292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45705" y="5486400"/>
            <a:ext cx="2009851" cy="502920"/>
          </a:xfrm>
          <a:prstGeom prst="rect">
            <a:avLst/>
          </a:prstGeom>
          <a:noFill/>
        </p:spPr>
        <p:txBody>
          <a:bodyPr wrap="square" anchor="ctr" lIns="25400" rIns="25400" tIns="12700" bIns="12700">
            <a:spAutoFit/>
          </a:bodyPr>
          <a:lstStyle/>
          <a:p>
            <a:pPr algn="ctr">
              <a:spcBef>
                <a:spcPts val="0"/>
              </a:spcBef>
              <a:spcAft>
                <a:spcPts val="200"/>
              </a:spcAft>
            </a:pPr>
            <a:r>
              <a:rPr sz="1250" b="1">
                <a:solidFill>
                  <a:srgbClr val="0E2A47"/>
                </a:solidFill>
                <a:latin typeface="Segoe UI"/>
              </a:rPr>
              <a:t>Maps</a:t>
            </a:r>
          </a:p>
        </p:txBody>
      </p:sp>
      <p:sp>
        <p:nvSpPr>
          <p:cNvPr id="38" name="Rounded Rectangle 37"/>
          <p:cNvSpPr/>
          <p:nvPr/>
        </p:nvSpPr>
        <p:spPr>
          <a:xfrm>
            <a:off x="9401860" y="5486400"/>
            <a:ext cx="2009851" cy="50292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01860" y="5486400"/>
            <a:ext cx="2009851" cy="502920"/>
          </a:xfrm>
          <a:prstGeom prst="rect">
            <a:avLst/>
          </a:prstGeom>
          <a:noFill/>
        </p:spPr>
        <p:txBody>
          <a:bodyPr wrap="square" anchor="ctr" lIns="25400" rIns="25400" tIns="12700" bIns="12700">
            <a:spAutoFit/>
          </a:bodyPr>
          <a:lstStyle/>
          <a:p>
            <a:pPr algn="ctr">
              <a:spcBef>
                <a:spcPts val="0"/>
              </a:spcBef>
              <a:spcAft>
                <a:spcPts val="200"/>
              </a:spcAft>
            </a:pPr>
            <a:r>
              <a:rPr sz="1250" b="1">
                <a:solidFill>
                  <a:srgbClr val="0E2A47"/>
                </a:solidFill>
                <a:latin typeface="Segoe UI"/>
              </a:rPr>
              <a:t>OR-Tools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84048"/>
            <a:ext cx="292608" cy="292608"/>
          </a:xfrm>
          <a:prstGeom prst="roundRect">
            <a:avLst>
              <a:gd name="adj" fmla="val 6000"/>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292608" cy="292608"/>
          </a:xfrm>
          <a:prstGeom prst="rect">
            <a:avLst/>
          </a:prstGeom>
          <a:noFill/>
        </p:spPr>
        <p:txBody>
          <a:bodyPr wrap="square" anchor="ctr" lIns="25400" rIns="25400" tIns="12700" bIns="12700">
            <a:spAutoFit/>
          </a:bodyPr>
          <a:lstStyle/>
          <a:p>
            <a:pPr algn="ctr">
              <a:spcBef>
                <a:spcPts val="0"/>
              </a:spcBef>
              <a:spcAft>
                <a:spcPts val="200"/>
              </a:spcAft>
            </a:pPr>
            <a:r>
              <a:rPr sz="1300" b="1">
                <a:solidFill>
                  <a:srgbClr val="FFFFFF"/>
                </a:solidFill>
                <a:latin typeface="Segoe UI"/>
              </a:rPr>
              <a:t>12</a:t>
            </a:r>
          </a:p>
        </p:txBody>
      </p:sp>
      <p:sp>
        <p:nvSpPr>
          <p:cNvPr id="5" name="TextBox 4"/>
          <p:cNvSpPr txBox="1"/>
          <p:nvPr/>
        </p:nvSpPr>
        <p:spPr>
          <a:xfrm>
            <a:off x="932688" y="384048"/>
            <a:ext cx="5943600" cy="310896"/>
          </a:xfrm>
          <a:prstGeom prst="rect">
            <a:avLst/>
          </a:prstGeom>
          <a:noFill/>
        </p:spPr>
        <p:txBody>
          <a:bodyPr wrap="square" anchor="ctr" lIns="25400" rIns="25400" tIns="12700" bIns="12700">
            <a:spAutoFit/>
          </a:bodyPr>
          <a:lstStyle/>
          <a:p>
            <a:pPr algn="l">
              <a:spcBef>
                <a:spcPts val="0"/>
              </a:spcBef>
              <a:spcAft>
                <a:spcPts val="200"/>
              </a:spcAft>
            </a:pPr>
            <a:r>
              <a:rPr sz="1150" b="1">
                <a:solidFill>
                  <a:srgbClr val="0E2A47"/>
                </a:solidFill>
                <a:latin typeface="Segoe UI"/>
              </a:rPr>
              <a:t>IMPACT &amp; THE ASK</a:t>
            </a:r>
          </a:p>
        </p:txBody>
      </p:sp>
      <p:cxnSp>
        <p:nvCxnSpPr>
          <p:cNvPr id="6" name="Connector 5"/>
          <p:cNvCxnSpPr/>
          <p:nvPr/>
        </p:nvCxnSpPr>
        <p:spPr>
          <a:xfrm>
            <a:off x="548640" y="84124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051560"/>
            <a:ext cx="11064240" cy="640080"/>
          </a:xfrm>
          <a:prstGeom prst="rect">
            <a:avLst/>
          </a:prstGeom>
          <a:noFill/>
        </p:spPr>
        <p:txBody>
          <a:bodyPr wrap="square" anchor="t" lIns="25400" rIns="25400" tIns="12700" bIns="12700">
            <a:spAutoFit/>
          </a:bodyPr>
          <a:lstStyle/>
          <a:p>
            <a:pPr algn="l">
              <a:spcBef>
                <a:spcPts val="0"/>
              </a:spcBef>
              <a:spcAft>
                <a:spcPts val="200"/>
              </a:spcAft>
            </a:pPr>
            <a:r>
              <a:rPr sz="3000" b="0">
                <a:solidFill>
                  <a:srgbClr val="0E2A47"/>
                </a:solidFill>
                <a:latin typeface="Segoe UI"/>
              </a:rPr>
              <a:t>Proven end-to-end on real Coimbatore data</a:t>
            </a:r>
          </a:p>
        </p:txBody>
      </p:sp>
      <p:sp>
        <p:nvSpPr>
          <p:cNvPr id="8" name="TextBox 7"/>
          <p:cNvSpPr txBox="1"/>
          <p:nvPr/>
        </p:nvSpPr>
        <p:spPr>
          <a:xfrm>
            <a:off x="548640" y="1783080"/>
            <a:ext cx="11064240" cy="731520"/>
          </a:xfrm>
          <a:prstGeom prst="rect">
            <a:avLst/>
          </a:prstGeom>
          <a:noFill/>
        </p:spPr>
        <p:txBody>
          <a:bodyPr wrap="square" anchor="t" lIns="25400" rIns="25400" tIns="12700" bIns="12700">
            <a:spAutoFit/>
          </a:bodyPr>
          <a:lstStyle/>
          <a:p>
            <a:pPr algn="l">
              <a:spcBef>
                <a:spcPts val="0"/>
              </a:spcBef>
              <a:spcAft>
                <a:spcPts val="200"/>
              </a:spcAft>
            </a:pPr>
            <a:r>
              <a:rPr sz="1450" b="0">
                <a:solidFill>
                  <a:srgbClr val="5E7186"/>
                </a:solidFill>
                <a:latin typeface="Segoe UI"/>
              </a:rPr>
              <a:t>Honest framing, no invented impact numbers: the mechanism works on real data. The realistic impact is unlocking entitlements that already exist and directing scarce discretionary funds to true gaps.</a:t>
            </a:r>
          </a:p>
        </p:txBody>
      </p:sp>
      <p:cxnSp>
        <p:nvCxnSpPr>
          <p:cNvPr id="9" name="Connector 8"/>
          <p:cNvCxnSpPr/>
          <p:nvPr/>
        </p:nvCxnSpPr>
        <p:spPr>
          <a:xfrm>
            <a:off x="548640" y="6419088"/>
            <a:ext cx="11091672" cy="0"/>
          </a:xfrm>
          <a:prstGeom prst="bentConnector3">
            <a:avLst/>
          </a:prstGeom>
          <a:ln w="9525">
            <a:solidFill>
              <a:srgbClr val="D8E1E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4572000" cy="274320"/>
          </a:xfrm>
          <a:prstGeom prst="rect">
            <a:avLst/>
          </a:prstGeom>
          <a:noFill/>
        </p:spPr>
        <p:txBody>
          <a:bodyPr wrap="square" anchor="t" lIns="25400" rIns="25400" tIns="12700" bIns="12700">
            <a:spAutoFit/>
          </a:bodyPr>
          <a:lstStyle/>
          <a:p>
            <a:pPr algn="l">
              <a:spcBef>
                <a:spcPts val="0"/>
              </a:spcBef>
              <a:spcAft>
                <a:spcPts val="200"/>
              </a:spcAft>
            </a:pPr>
            <a:r>
              <a:rPr sz="950" b="1">
                <a:solidFill>
                  <a:srgbClr val="0E2A47"/>
                </a:solidFill>
                <a:latin typeface="Segoe UI"/>
              </a:rPr>
              <a:t>SARVIK  </a:t>
            </a:r>
            <a:r>
              <a:rPr sz="950" b="0">
                <a:solidFill>
                  <a:srgbClr val="8CA0B3"/>
                </a:solidFill>
                <a:latin typeface="Segoe UI"/>
              </a:rPr>
              <a:t>AI decision-support for MPs</a:t>
            </a:r>
          </a:p>
        </p:txBody>
      </p:sp>
      <p:sp>
        <p:nvSpPr>
          <p:cNvPr id="11" name="TextBox 10"/>
          <p:cNvSpPr txBox="1"/>
          <p:nvPr/>
        </p:nvSpPr>
        <p:spPr>
          <a:xfrm>
            <a:off x="3657600" y="6446520"/>
            <a:ext cx="4873752" cy="274320"/>
          </a:xfrm>
          <a:prstGeom prst="rect">
            <a:avLst/>
          </a:prstGeom>
          <a:noFill/>
        </p:spPr>
        <p:txBody>
          <a:bodyPr wrap="square" anchor="t" lIns="25400" rIns="25400" tIns="12700" bIns="12700">
            <a:spAutoFit/>
          </a:bodyPr>
          <a:lstStyle/>
          <a:p>
            <a:pPr algn="ctr">
              <a:spcBef>
                <a:spcPts val="0"/>
              </a:spcBef>
              <a:spcAft>
                <a:spcPts val="200"/>
              </a:spcAft>
            </a:pPr>
            <a:r>
              <a:rPr sz="950" b="0">
                <a:solidFill>
                  <a:srgbClr val="8CA0B3"/>
                </a:solidFill>
                <a:latin typeface="Segoe UI"/>
              </a:rPr>
              <a:t>Google Cloud  ·  Build with AI: Code for Communities  ·  Track 1</a:t>
            </a:r>
          </a:p>
        </p:txBody>
      </p:sp>
      <p:sp>
        <p:nvSpPr>
          <p:cNvPr id="12" name="TextBox 11"/>
          <p:cNvSpPr txBox="1"/>
          <p:nvPr/>
        </p:nvSpPr>
        <p:spPr>
          <a:xfrm>
            <a:off x="9784080" y="6446520"/>
            <a:ext cx="1856231" cy="274320"/>
          </a:xfrm>
          <a:prstGeom prst="rect">
            <a:avLst/>
          </a:prstGeom>
          <a:noFill/>
        </p:spPr>
        <p:txBody>
          <a:bodyPr wrap="square" anchor="t" lIns="25400" rIns="25400" tIns="12700" bIns="12700">
            <a:spAutoFit/>
          </a:bodyPr>
          <a:lstStyle/>
          <a:p>
            <a:pPr algn="r">
              <a:spcBef>
                <a:spcPts val="0"/>
              </a:spcBef>
              <a:spcAft>
                <a:spcPts val="200"/>
              </a:spcAft>
            </a:pPr>
            <a:r>
              <a:rPr sz="950" b="1">
                <a:solidFill>
                  <a:srgbClr val="5E7186"/>
                </a:solidFill>
                <a:latin typeface="Segoe UI"/>
              </a:rPr>
              <a:t>12 / 12</a:t>
            </a:r>
          </a:p>
        </p:txBody>
      </p:sp>
      <p:sp>
        <p:nvSpPr>
          <p:cNvPr id="13" name="Rounded Rectangle 12"/>
          <p:cNvSpPr/>
          <p:nvPr/>
        </p:nvSpPr>
        <p:spPr>
          <a:xfrm>
            <a:off x="548640" y="2743200"/>
            <a:ext cx="3538728" cy="173736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416552"/>
            <a:ext cx="3538728" cy="64008"/>
          </a:xfrm>
          <a:prstGeom prst="rect">
            <a:avLst/>
          </a:prstGeom>
          <a:solidFill>
            <a:srgbClr val="0F8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926080"/>
            <a:ext cx="3081528" cy="640080"/>
          </a:xfrm>
          <a:prstGeom prst="rect">
            <a:avLst/>
          </a:prstGeom>
          <a:noFill/>
        </p:spPr>
        <p:txBody>
          <a:bodyPr wrap="square" anchor="t" lIns="25400" rIns="25400" tIns="12700" bIns="12700">
            <a:spAutoFit/>
          </a:bodyPr>
          <a:lstStyle/>
          <a:p>
            <a:pPr algn="l">
              <a:spcBef>
                <a:spcPts val="0"/>
              </a:spcBef>
              <a:spcAft>
                <a:spcPts val="200"/>
              </a:spcAft>
            </a:pPr>
            <a:r>
              <a:rPr sz="3800" b="0">
                <a:solidFill>
                  <a:srgbClr val="0E2A47"/>
                </a:solidFill>
                <a:latin typeface="Segoe UI"/>
              </a:rPr>
              <a:t>₹463 cr</a:t>
            </a:r>
          </a:p>
        </p:txBody>
      </p:sp>
      <p:sp>
        <p:nvSpPr>
          <p:cNvPr id="16" name="TextBox 15"/>
          <p:cNvSpPr txBox="1"/>
          <p:nvPr/>
        </p:nvSpPr>
        <p:spPr>
          <a:xfrm>
            <a:off x="804672" y="3657600"/>
            <a:ext cx="3081528" cy="274320"/>
          </a:xfrm>
          <a:prstGeom prst="rect">
            <a:avLst/>
          </a:prstGeom>
          <a:noFill/>
        </p:spPr>
        <p:txBody>
          <a:bodyPr wrap="square" anchor="t" lIns="25400" rIns="25400" tIns="12700" bIns="12700">
            <a:spAutoFit/>
          </a:bodyPr>
          <a:lstStyle/>
          <a:p>
            <a:pPr algn="l">
              <a:spcBef>
                <a:spcPts val="0"/>
              </a:spcBef>
              <a:spcAft>
                <a:spcPts val="200"/>
              </a:spcAft>
            </a:pPr>
            <a:r>
              <a:rPr sz="1500" b="1">
                <a:solidFill>
                  <a:srgbClr val="0F8A72"/>
                </a:solidFill>
                <a:latin typeface="Segoe UI"/>
              </a:rPr>
              <a:t>surfaced as owed</a:t>
            </a:r>
          </a:p>
        </p:txBody>
      </p:sp>
      <p:sp>
        <p:nvSpPr>
          <p:cNvPr id="17" name="TextBox 16"/>
          <p:cNvSpPr txBox="1"/>
          <p:nvPr/>
        </p:nvSpPr>
        <p:spPr>
          <a:xfrm>
            <a:off x="804672" y="3977639"/>
            <a:ext cx="3081528" cy="365760"/>
          </a:xfrm>
          <a:prstGeom prst="rect">
            <a:avLst/>
          </a:prstGeom>
          <a:noFill/>
        </p:spPr>
        <p:txBody>
          <a:bodyPr wrap="square" anchor="t" lIns="25400" rIns="25400" tIns="12700" bIns="12700">
            <a:spAutoFit/>
          </a:bodyPr>
          <a:lstStyle/>
          <a:p>
            <a:pPr algn="l">
              <a:spcBef>
                <a:spcPts val="0"/>
              </a:spcBef>
              <a:spcAft>
                <a:spcPts val="200"/>
              </a:spcAft>
            </a:pPr>
            <a:r>
              <a:rPr sz="1250" b="0">
                <a:solidFill>
                  <a:srgbClr val="5E7186"/>
                </a:solidFill>
                <a:latin typeface="Segoe UI"/>
              </a:rPr>
              <a:t>₹308 cr from real Census 2011</a:t>
            </a:r>
          </a:p>
        </p:txBody>
      </p:sp>
      <p:sp>
        <p:nvSpPr>
          <p:cNvPr id="18" name="Rounded Rectangle 17"/>
          <p:cNvSpPr/>
          <p:nvPr/>
        </p:nvSpPr>
        <p:spPr>
          <a:xfrm>
            <a:off x="4325112" y="2743200"/>
            <a:ext cx="3538728" cy="173736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25112" y="4416552"/>
            <a:ext cx="3538728" cy="64008"/>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81144" y="2926080"/>
            <a:ext cx="3081528" cy="640080"/>
          </a:xfrm>
          <a:prstGeom prst="rect">
            <a:avLst/>
          </a:prstGeom>
          <a:noFill/>
        </p:spPr>
        <p:txBody>
          <a:bodyPr wrap="square" anchor="t" lIns="25400" rIns="25400" tIns="12700" bIns="12700">
            <a:spAutoFit/>
          </a:bodyPr>
          <a:lstStyle/>
          <a:p>
            <a:pPr algn="l">
              <a:spcBef>
                <a:spcPts val="0"/>
              </a:spcBef>
              <a:spcAft>
                <a:spcPts val="200"/>
              </a:spcAft>
            </a:pPr>
            <a:r>
              <a:rPr sz="3800" b="0">
                <a:solidFill>
                  <a:srgbClr val="0E2A47"/>
                </a:solidFill>
                <a:latin typeface="Segoe UI"/>
              </a:rPr>
              <a:t>24</a:t>
            </a:r>
          </a:p>
        </p:txBody>
      </p:sp>
      <p:sp>
        <p:nvSpPr>
          <p:cNvPr id="21" name="TextBox 20"/>
          <p:cNvSpPr txBox="1"/>
          <p:nvPr/>
        </p:nvSpPr>
        <p:spPr>
          <a:xfrm>
            <a:off x="4581144" y="3657600"/>
            <a:ext cx="3081528" cy="274320"/>
          </a:xfrm>
          <a:prstGeom prst="rect">
            <a:avLst/>
          </a:prstGeom>
          <a:noFill/>
        </p:spPr>
        <p:txBody>
          <a:bodyPr wrap="square" anchor="t" lIns="25400" rIns="25400" tIns="12700" bIns="12700">
            <a:spAutoFit/>
          </a:bodyPr>
          <a:lstStyle/>
          <a:p>
            <a:pPr algn="l">
              <a:spcBef>
                <a:spcPts val="0"/>
              </a:spcBef>
              <a:spcAft>
                <a:spcPts val="200"/>
              </a:spcAft>
            </a:pPr>
            <a:r>
              <a:rPr sz="1500" b="1">
                <a:solidFill>
                  <a:srgbClr val="C6851B"/>
                </a:solidFill>
                <a:latin typeface="Segoe UI"/>
              </a:rPr>
              <a:t>silent villages named</a:t>
            </a:r>
          </a:p>
        </p:txBody>
      </p:sp>
      <p:sp>
        <p:nvSpPr>
          <p:cNvPr id="22" name="TextBox 21"/>
          <p:cNvSpPr txBox="1"/>
          <p:nvPr/>
        </p:nvSpPr>
        <p:spPr>
          <a:xfrm>
            <a:off x="4581144" y="3977639"/>
            <a:ext cx="3081528" cy="365760"/>
          </a:xfrm>
          <a:prstGeom prst="rect">
            <a:avLst/>
          </a:prstGeom>
          <a:noFill/>
        </p:spPr>
        <p:txBody>
          <a:bodyPr wrap="square" anchor="t" lIns="25400" rIns="25400" tIns="12700" bIns="12700">
            <a:spAutoFit/>
          </a:bodyPr>
          <a:lstStyle/>
          <a:p>
            <a:pPr algn="l">
              <a:spcBef>
                <a:spcPts val="0"/>
              </a:spcBef>
              <a:spcAft>
                <a:spcPts val="200"/>
              </a:spcAft>
            </a:pPr>
            <a:r>
              <a:rPr sz="1250" b="0">
                <a:solidFill>
                  <a:srgbClr val="5E7186"/>
                </a:solidFill>
                <a:latin typeface="Segoe UI"/>
              </a:rPr>
              <a:t>attention by need, not volume</a:t>
            </a:r>
          </a:p>
        </p:txBody>
      </p:sp>
      <p:sp>
        <p:nvSpPr>
          <p:cNvPr id="23" name="Rounded Rectangle 22"/>
          <p:cNvSpPr/>
          <p:nvPr/>
        </p:nvSpPr>
        <p:spPr>
          <a:xfrm>
            <a:off x="8101583" y="2743200"/>
            <a:ext cx="3538728" cy="1737360"/>
          </a:xfrm>
          <a:prstGeom prst="roundRect">
            <a:avLst>
              <a:gd name="adj" fmla="val 6000"/>
            </a:avLst>
          </a:prstGeom>
          <a:solidFill>
            <a:srgbClr val="FFFFFF"/>
          </a:solidFill>
          <a:ln w="12700">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01583" y="4416552"/>
            <a:ext cx="3538728" cy="64008"/>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7615" y="2926080"/>
            <a:ext cx="3081528" cy="640080"/>
          </a:xfrm>
          <a:prstGeom prst="rect">
            <a:avLst/>
          </a:prstGeom>
          <a:noFill/>
        </p:spPr>
        <p:txBody>
          <a:bodyPr wrap="square" anchor="t" lIns="25400" rIns="25400" tIns="12700" bIns="12700">
            <a:spAutoFit/>
          </a:bodyPr>
          <a:lstStyle/>
          <a:p>
            <a:pPr algn="l">
              <a:spcBef>
                <a:spcPts val="0"/>
              </a:spcBef>
              <a:spcAft>
                <a:spcPts val="200"/>
              </a:spcAft>
            </a:pPr>
            <a:r>
              <a:rPr sz="3800" b="0">
                <a:solidFill>
                  <a:srgbClr val="0E2A47"/>
                </a:solidFill>
                <a:latin typeface="Segoe UI"/>
              </a:rPr>
              <a:t>2 tracks</a:t>
            </a:r>
          </a:p>
        </p:txBody>
      </p:sp>
      <p:sp>
        <p:nvSpPr>
          <p:cNvPr id="26" name="TextBox 25"/>
          <p:cNvSpPr txBox="1"/>
          <p:nvPr/>
        </p:nvSpPr>
        <p:spPr>
          <a:xfrm>
            <a:off x="8357615" y="3657600"/>
            <a:ext cx="3081528" cy="274320"/>
          </a:xfrm>
          <a:prstGeom prst="rect">
            <a:avLst/>
          </a:prstGeom>
          <a:noFill/>
        </p:spPr>
        <p:txBody>
          <a:bodyPr wrap="square" anchor="t" lIns="25400" rIns="25400" tIns="12700" bIns="12700">
            <a:spAutoFit/>
          </a:bodyPr>
          <a:lstStyle/>
          <a:p>
            <a:pPr algn="l">
              <a:spcBef>
                <a:spcPts val="0"/>
              </a:spcBef>
              <a:spcAft>
                <a:spcPts val="200"/>
              </a:spcAft>
            </a:pPr>
            <a:r>
              <a:rPr sz="1500" b="1">
                <a:solidFill>
                  <a:srgbClr val="2E6FB0"/>
                </a:solidFill>
                <a:latin typeface="Segoe UI"/>
              </a:rPr>
              <a:t>generated live</a:t>
            </a:r>
          </a:p>
        </p:txBody>
      </p:sp>
      <p:sp>
        <p:nvSpPr>
          <p:cNvPr id="27" name="TextBox 26"/>
          <p:cNvSpPr txBox="1"/>
          <p:nvPr/>
        </p:nvSpPr>
        <p:spPr>
          <a:xfrm>
            <a:off x="8357615" y="3977639"/>
            <a:ext cx="3081528" cy="365760"/>
          </a:xfrm>
          <a:prstGeom prst="rect">
            <a:avLst/>
          </a:prstGeom>
          <a:noFill/>
        </p:spPr>
        <p:txBody>
          <a:bodyPr wrap="square" anchor="t" lIns="25400" rIns="25400" tIns="12700" bIns="12700">
            <a:spAutoFit/>
          </a:bodyPr>
          <a:lstStyle/>
          <a:p>
            <a:pPr algn="l">
              <a:spcBef>
                <a:spcPts val="0"/>
              </a:spcBef>
              <a:spcAft>
                <a:spcPts val="200"/>
              </a:spcAft>
            </a:pPr>
            <a:r>
              <a:rPr sz="1250" b="0">
                <a:solidFill>
                  <a:srgbClr val="5E7186"/>
                </a:solidFill>
                <a:latin typeface="Segoe UI"/>
              </a:rPr>
              <a:t>letters to unlock + ₹5cr plan</a:t>
            </a:r>
          </a:p>
        </p:txBody>
      </p:sp>
      <p:sp>
        <p:nvSpPr>
          <p:cNvPr id="28" name="Rounded Rectangle 27"/>
          <p:cNvSpPr/>
          <p:nvPr/>
        </p:nvSpPr>
        <p:spPr>
          <a:xfrm>
            <a:off x="548640" y="4709160"/>
            <a:ext cx="11091672" cy="914400"/>
          </a:xfrm>
          <a:prstGeom prst="roundRect">
            <a:avLst>
              <a:gd name="adj" fmla="val 6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09160"/>
            <a:ext cx="54864" cy="914400"/>
          </a:xfrm>
          <a:prstGeom prst="rect">
            <a:avLst/>
          </a:prstGeom>
          <a:solidFill>
            <a:srgbClr val="C68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846320"/>
            <a:ext cx="7772400" cy="64008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C6851B"/>
                </a:solidFill>
                <a:latin typeface="Segoe UI"/>
              </a:rPr>
              <a:t>THE ASK</a:t>
            </a:r>
          </a:p>
          <a:p>
            <a:pPr algn="l">
              <a:spcBef>
                <a:spcPts val="0"/>
              </a:spcBef>
              <a:spcAft>
                <a:spcPts val="400"/>
              </a:spcAft>
            </a:pPr>
            <a:r>
              <a:rPr sz="1900" b="1">
                <a:solidFill>
                  <a:srgbClr val="FFFFFF"/>
                </a:solidFill>
                <a:latin typeface="Segoe UI"/>
              </a:rPr>
              <a:t>A pilot with one MP office — to validate unlocked rupees against real departmental data.</a:t>
            </a:r>
          </a:p>
        </p:txBody>
      </p:sp>
      <p:sp>
        <p:nvSpPr>
          <p:cNvPr id="31" name="TextBox 30"/>
          <p:cNvSpPr txBox="1"/>
          <p:nvPr/>
        </p:nvSpPr>
        <p:spPr>
          <a:xfrm>
            <a:off x="7772400" y="4892040"/>
            <a:ext cx="3657600" cy="640080"/>
          </a:xfrm>
          <a:prstGeom prst="rect">
            <a:avLst/>
          </a:prstGeom>
          <a:noFill/>
        </p:spPr>
        <p:txBody>
          <a:bodyPr wrap="square" anchor="t" lIns="25400" rIns="25400" tIns="12700" bIns="12700">
            <a:spAutoFit/>
          </a:bodyPr>
          <a:lstStyle/>
          <a:p>
            <a:pPr algn="r">
              <a:spcBef>
                <a:spcPts val="0"/>
              </a:spcBef>
              <a:spcAft>
                <a:spcPts val="200"/>
              </a:spcAft>
            </a:pPr>
            <a:r>
              <a:rPr sz="1400" b="1">
                <a:solidFill>
                  <a:srgbClr val="FFFFFF"/>
                </a:solidFill>
                <a:latin typeface="Segoe UI"/>
              </a:rPr>
              <a:t>sarvik.web.app</a:t>
            </a:r>
          </a:p>
          <a:p>
            <a:pPr algn="r">
              <a:spcBef>
                <a:spcPts val="0"/>
              </a:spcBef>
              <a:spcAft>
                <a:spcPts val="200"/>
              </a:spcAft>
            </a:pPr>
            <a:r>
              <a:rPr sz="1100" b="0">
                <a:solidFill>
                  <a:srgbClr val="9BADBE"/>
                </a:solidFill>
                <a:latin typeface="Segoe UI"/>
              </a:rPr>
              <a:t>github.com/Saravana-Rajan/Build-With-AI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